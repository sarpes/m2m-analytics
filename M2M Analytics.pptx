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2" r:id="rId2"/>
    <p:sldId id="264" r:id="rId3"/>
    <p:sldId id="265" r:id="rId4"/>
    <p:sldId id="266" r:id="rId5"/>
    <p:sldId id="267" r:id="rId6"/>
    <p:sldId id="26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3E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73" autoAdjust="0"/>
    <p:restoredTop sz="66863" autoAdjust="0"/>
  </p:normalViewPr>
  <p:slideViewPr>
    <p:cSldViewPr snapToGrid="0">
      <p:cViewPr varScale="1">
        <p:scale>
          <a:sx n="66" d="100"/>
          <a:sy n="66" d="100"/>
        </p:scale>
        <p:origin x="2454" y="288"/>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D90568-5F19-4D85-B4E3-B30CA537C6F2}" type="datetimeFigureOut">
              <a:rPr lang="en-GB" smtClean="0"/>
              <a:t>15/04/2026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CFB90E-9F22-4760-AD4E-8715C179F170}" type="slidenum">
              <a:rPr lang="en-GB" smtClean="0"/>
              <a:t>‹#›</a:t>
            </a:fld>
            <a:endParaRPr lang="en-GB"/>
          </a:p>
        </p:txBody>
      </p:sp>
    </p:spTree>
    <p:extLst>
      <p:ext uri="{BB962C8B-B14F-4D97-AF65-F5344CB8AC3E}">
        <p14:creationId xmlns:p14="http://schemas.microsoft.com/office/powerpoint/2010/main" val="2666516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9CFB90E-9F22-4760-AD4E-8715C179F170}" type="slidenum">
              <a:rPr lang="en-GB" smtClean="0"/>
              <a:t>1</a:t>
            </a:fld>
            <a:endParaRPr lang="en-GB" dirty="0"/>
          </a:p>
        </p:txBody>
      </p:sp>
    </p:spTree>
    <p:extLst>
      <p:ext uri="{BB962C8B-B14F-4D97-AF65-F5344CB8AC3E}">
        <p14:creationId xmlns:p14="http://schemas.microsoft.com/office/powerpoint/2010/main" val="2090087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85276-ED6F-C36B-6A7C-F9B026195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9995C-A48E-ADF8-2CE4-C458799ABF39}"/>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27858CFF-0946-F789-B5DF-DF9A070D8FB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2D439A0-CBBC-DA72-209D-A9E2CD5174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CFB90E-9F22-4760-AD4E-8715C179F1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2383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522F9-DF2F-BACD-BB4A-2823A54B2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68D55-4AEF-125A-2C0D-C9963CAAD8CF}"/>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D785265F-955A-97F5-09E0-4BAC40EAC089}"/>
              </a:ext>
            </a:extLst>
          </p:cNvPr>
          <p:cNvSpPr>
            <a:spLocks noGrp="1"/>
          </p:cNvSpPr>
          <p:nvPr>
            <p:ph type="body" idx="1"/>
          </p:nvPr>
        </p:nvSpPr>
        <p:spPr/>
        <p:txBody>
          <a:bodyPr/>
          <a:lstStyle/>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r>
              <a:rPr lang="en-GB" b="0" dirty="0"/>
              <a:t>En </a:t>
            </a:r>
            <a:r>
              <a:rPr lang="en-GB" b="0" dirty="0" err="1"/>
              <a:t>yüksek</a:t>
            </a:r>
            <a:r>
              <a:rPr lang="en-GB" b="0" dirty="0"/>
              <a:t> </a:t>
            </a:r>
            <a:r>
              <a:rPr lang="en-GB" b="0" dirty="0" err="1"/>
              <a:t>gelir</a:t>
            </a:r>
            <a:r>
              <a:rPr lang="en-GB" b="0" dirty="0"/>
              <a:t> </a:t>
            </a:r>
            <a:r>
              <a:rPr lang="en-GB" b="0" dirty="0" err="1"/>
              <a:t>getiren</a:t>
            </a:r>
            <a:r>
              <a:rPr lang="en-GB" b="0" dirty="0"/>
              <a:t> ilk 5 </a:t>
            </a:r>
            <a:r>
              <a:rPr lang="en-GB" b="0" dirty="0" err="1"/>
              <a:t>ürün</a:t>
            </a:r>
            <a:r>
              <a:rPr lang="en-GB" b="0" dirty="0"/>
              <a:t> </a:t>
            </a:r>
            <a:r>
              <a:rPr lang="en-GB" b="0" dirty="0" err="1"/>
              <a:t>sırasıyla</a:t>
            </a:r>
            <a:r>
              <a:rPr lang="en-GB" b="0" dirty="0"/>
              <a:t> </a:t>
            </a:r>
            <a:r>
              <a:rPr lang="tr-TR" b="0" dirty="0"/>
              <a:t>……</a:t>
            </a:r>
            <a:r>
              <a:rPr lang="en-GB" b="0" dirty="0"/>
              <a:t>. Bu </a:t>
            </a:r>
            <a:r>
              <a:rPr lang="en-GB" b="0" dirty="0" err="1"/>
              <a:t>ürünlerden</a:t>
            </a:r>
            <a:r>
              <a:rPr lang="en-GB" b="0" dirty="0"/>
              <a:t> </a:t>
            </a:r>
            <a:r>
              <a:rPr lang="tr-TR" b="0" dirty="0" err="1"/>
              <a:t>Cote</a:t>
            </a:r>
            <a:r>
              <a:rPr lang="tr-TR" b="0" dirty="0"/>
              <a:t> de </a:t>
            </a:r>
            <a:r>
              <a:rPr lang="tr-TR" b="0" dirty="0" err="1"/>
              <a:t>Blayenin</a:t>
            </a:r>
            <a:r>
              <a:rPr lang="en-GB" b="0" dirty="0"/>
              <a:t>, </a:t>
            </a:r>
            <a:r>
              <a:rPr lang="en-GB" b="0" dirty="0" err="1"/>
              <a:t>satış</a:t>
            </a:r>
            <a:r>
              <a:rPr lang="en-GB" b="0" dirty="0"/>
              <a:t> </a:t>
            </a:r>
            <a:r>
              <a:rPr lang="en-GB" b="0" dirty="0" err="1"/>
              <a:t>adedi</a:t>
            </a:r>
            <a:r>
              <a:rPr lang="en-GB" b="0" dirty="0"/>
              <a:t> </a:t>
            </a:r>
            <a:r>
              <a:rPr lang="tr-TR" b="0" dirty="0"/>
              <a:t>diğer ürünlerden</a:t>
            </a:r>
            <a:r>
              <a:rPr lang="en-GB" b="0" dirty="0"/>
              <a:t> </a:t>
            </a:r>
            <a:r>
              <a:rPr lang="en-GB" b="0" dirty="0" err="1"/>
              <a:t>düşük</a:t>
            </a:r>
            <a:r>
              <a:rPr lang="en-GB" b="0" dirty="0"/>
              <a:t> </a:t>
            </a:r>
            <a:r>
              <a:rPr lang="en-GB" b="0" dirty="0" err="1"/>
              <a:t>olsa</a:t>
            </a:r>
            <a:r>
              <a:rPr lang="en-GB" b="0" dirty="0"/>
              <a:t> da (623 </a:t>
            </a:r>
            <a:r>
              <a:rPr lang="en-GB" b="0" dirty="0" err="1"/>
              <a:t>adet</a:t>
            </a:r>
            <a:r>
              <a:rPr lang="en-GB" b="0" dirty="0"/>
              <a:t>), </a:t>
            </a:r>
            <a:r>
              <a:rPr lang="en-GB" b="0" dirty="0" err="1"/>
              <a:t>birim</a:t>
            </a:r>
            <a:r>
              <a:rPr lang="en-GB" b="0" dirty="0"/>
              <a:t> </a:t>
            </a:r>
            <a:r>
              <a:rPr lang="en-GB" b="0" dirty="0" err="1"/>
              <a:t>fiyatının</a:t>
            </a:r>
            <a:r>
              <a:rPr lang="en-GB" b="0" dirty="0"/>
              <a:t> </a:t>
            </a:r>
            <a:r>
              <a:rPr lang="en-GB" b="0" dirty="0" err="1"/>
              <a:t>yüksekliği</a:t>
            </a:r>
            <a:r>
              <a:rPr lang="en-GB" b="0" dirty="0"/>
              <a:t> (263,5) </a:t>
            </a:r>
            <a:r>
              <a:rPr lang="en-GB" b="0" dirty="0" err="1"/>
              <a:t>nedeniyle</a:t>
            </a:r>
            <a:r>
              <a:rPr lang="en-GB" b="0" dirty="0"/>
              <a:t> </a:t>
            </a:r>
            <a:r>
              <a:rPr lang="en-GB" b="0" dirty="0" err="1"/>
              <a:t>gelir</a:t>
            </a:r>
            <a:r>
              <a:rPr lang="en-GB" b="0" dirty="0"/>
              <a:t> </a:t>
            </a:r>
            <a:r>
              <a:rPr lang="en-GB" b="0" dirty="0" err="1"/>
              <a:t>sıralamasında</a:t>
            </a:r>
            <a:r>
              <a:rPr lang="en-GB" b="0" dirty="0"/>
              <a:t> </a:t>
            </a:r>
            <a:r>
              <a:rPr lang="en-GB" b="0" dirty="0" err="1"/>
              <a:t>zirvede</a:t>
            </a:r>
            <a:r>
              <a:rPr lang="en-GB" b="0" dirty="0"/>
              <a:t> </a:t>
            </a:r>
            <a:r>
              <a:rPr lang="en-GB" b="0" dirty="0" err="1"/>
              <a:t>yer</a:t>
            </a:r>
            <a:r>
              <a:rPr lang="en-GB" b="0" dirty="0"/>
              <a:t> </a:t>
            </a:r>
            <a:r>
              <a:rPr lang="en-GB" b="0" dirty="0" err="1"/>
              <a:t>alıyor</a:t>
            </a:r>
            <a:r>
              <a:rPr lang="en-GB" b="0" dirty="0"/>
              <a:t>. İlk 5 </a:t>
            </a:r>
            <a:r>
              <a:rPr lang="en-GB" b="0" dirty="0" err="1"/>
              <a:t>ürün</a:t>
            </a:r>
            <a:r>
              <a:rPr lang="tr-TR" b="0" dirty="0" err="1"/>
              <a:t>ümüzün</a:t>
            </a:r>
            <a:r>
              <a:rPr lang="en-GB" b="0" dirty="0"/>
              <a:t> </a:t>
            </a:r>
            <a:r>
              <a:rPr lang="en-GB" b="0" dirty="0" err="1"/>
              <a:t>toplam</a:t>
            </a:r>
            <a:r>
              <a:rPr lang="en-GB" b="0" dirty="0"/>
              <a:t> </a:t>
            </a:r>
            <a:r>
              <a:rPr lang="en-GB" b="0" dirty="0" err="1"/>
              <a:t>geliri</a:t>
            </a:r>
            <a:r>
              <a:rPr lang="en-GB" b="0" dirty="0"/>
              <a:t> 386K</a:t>
            </a:r>
            <a:r>
              <a:rPr lang="tr-TR" b="0" dirty="0"/>
              <a:t>, </a:t>
            </a:r>
            <a:r>
              <a:rPr lang="en-GB" b="0" dirty="0" err="1"/>
              <a:t>aynı</a:t>
            </a:r>
            <a:r>
              <a:rPr lang="en-GB" b="0" dirty="0"/>
              <a:t> </a:t>
            </a:r>
            <a:r>
              <a:rPr lang="en-GB" b="0" dirty="0" err="1"/>
              <a:t>dönemdeki</a:t>
            </a:r>
            <a:r>
              <a:rPr lang="en-GB" b="0" dirty="0"/>
              <a:t> </a:t>
            </a:r>
            <a:r>
              <a:rPr lang="en-GB" b="0" dirty="0" err="1"/>
              <a:t>toplam</a:t>
            </a:r>
            <a:r>
              <a:rPr lang="en-GB" b="0" dirty="0"/>
              <a:t> </a:t>
            </a:r>
            <a:r>
              <a:rPr lang="en-GB" b="0" dirty="0" err="1"/>
              <a:t>gelirimiz</a:t>
            </a:r>
            <a:r>
              <a:rPr lang="en-GB" b="0" dirty="0"/>
              <a:t> 1,27M’nin </a:t>
            </a:r>
            <a:r>
              <a:rPr lang="en-GB" b="0" dirty="0" err="1"/>
              <a:t>yaklaşık</a:t>
            </a:r>
            <a:r>
              <a:rPr lang="en-GB" b="0" dirty="0"/>
              <a:t> %31’ini </a:t>
            </a:r>
            <a:r>
              <a:rPr lang="en-GB" b="0" dirty="0" err="1"/>
              <a:t>oluşturuyor</a:t>
            </a:r>
            <a:r>
              <a:rPr lang="en-GB" b="0" dirty="0"/>
              <a:t>; </a:t>
            </a:r>
            <a:r>
              <a:rPr lang="en-GB" b="0" dirty="0" err="1"/>
              <a:t>yani</a:t>
            </a:r>
            <a:r>
              <a:rPr lang="en-GB" b="0" dirty="0"/>
              <a:t> </a:t>
            </a:r>
            <a:r>
              <a:rPr lang="en-GB" b="0" dirty="0" err="1"/>
              <a:t>gelirimizin</a:t>
            </a:r>
            <a:r>
              <a:rPr lang="en-GB" b="0" dirty="0"/>
              <a:t> </a:t>
            </a:r>
            <a:r>
              <a:rPr lang="en-GB" b="0" dirty="0" err="1"/>
              <a:t>kritik</a:t>
            </a:r>
            <a:r>
              <a:rPr lang="en-GB" b="0" dirty="0"/>
              <a:t> </a:t>
            </a:r>
            <a:r>
              <a:rPr lang="en-GB" b="0" dirty="0" err="1"/>
              <a:t>bir</a:t>
            </a:r>
            <a:r>
              <a:rPr lang="en-GB" b="0" dirty="0"/>
              <a:t> </a:t>
            </a:r>
            <a:r>
              <a:rPr lang="en-GB" b="0" dirty="0" err="1"/>
              <a:t>bölümü</a:t>
            </a:r>
            <a:r>
              <a:rPr lang="en-GB" b="0" dirty="0"/>
              <a:t> </a:t>
            </a:r>
            <a:r>
              <a:rPr lang="en-GB" b="0" dirty="0" err="1"/>
              <a:t>bu</a:t>
            </a:r>
            <a:r>
              <a:rPr lang="en-GB" b="0" dirty="0"/>
              <a:t> </a:t>
            </a:r>
            <a:r>
              <a:rPr lang="en-GB" b="0" dirty="0" err="1"/>
              <a:t>ürünlerde</a:t>
            </a:r>
            <a:r>
              <a:rPr lang="en-GB" b="0" dirty="0"/>
              <a:t> </a:t>
            </a:r>
            <a:r>
              <a:rPr lang="en-GB" b="0" dirty="0" err="1"/>
              <a:t>yoğunlaşıyor</a:t>
            </a:r>
            <a:r>
              <a:rPr lang="en-GB" b="0" dirty="0"/>
              <a:t>.</a:t>
            </a:r>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b="0" dirty="0"/>
          </a:p>
          <a:p>
            <a:endParaRPr lang="tr-TR"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err="1"/>
              <a:t>veri</a:t>
            </a:r>
            <a:r>
              <a:rPr lang="tr-TR" dirty="0"/>
              <a:t>tabanı</a:t>
            </a:r>
            <a:r>
              <a:rPr lang="en-GB" dirty="0"/>
              <a:t> her </a:t>
            </a:r>
            <a:r>
              <a:rPr lang="en-GB" dirty="0" err="1"/>
              <a:t>ürünü</a:t>
            </a:r>
            <a:r>
              <a:rPr lang="en-GB" dirty="0"/>
              <a:t> </a:t>
            </a:r>
            <a:r>
              <a:rPr lang="en-GB" dirty="0" err="1"/>
              <a:t>tek</a:t>
            </a:r>
            <a:r>
              <a:rPr lang="en-GB" dirty="0"/>
              <a:t> </a:t>
            </a:r>
            <a:r>
              <a:rPr lang="en-GB" dirty="0" err="1"/>
              <a:t>bir</a:t>
            </a:r>
            <a:r>
              <a:rPr lang="en-GB" dirty="0"/>
              <a:t> </a:t>
            </a:r>
            <a:r>
              <a:rPr lang="en-GB" dirty="0" err="1"/>
              <a:t>tedarikçiye</a:t>
            </a:r>
            <a:r>
              <a:rPr lang="en-GB" dirty="0"/>
              <a:t> </a:t>
            </a:r>
            <a:r>
              <a:rPr lang="en-GB" dirty="0" err="1"/>
              <a:t>bağl</a:t>
            </a:r>
            <a:r>
              <a:rPr lang="tr-TR" dirty="0" err="1"/>
              <a:t>amış</a:t>
            </a:r>
            <a:r>
              <a:rPr lang="en-GB" dirty="0"/>
              <a:t> </a:t>
            </a:r>
            <a:r>
              <a:rPr lang="en-GB" dirty="0" err="1"/>
              <a:t>ve</a:t>
            </a:r>
            <a:r>
              <a:rPr lang="en-GB" dirty="0"/>
              <a:t> </a:t>
            </a:r>
            <a:r>
              <a:rPr lang="en-GB" dirty="0" err="1"/>
              <a:t>alternatif</a:t>
            </a:r>
            <a:r>
              <a:rPr lang="en-GB" dirty="0"/>
              <a:t> </a:t>
            </a:r>
            <a:r>
              <a:rPr lang="en-GB" dirty="0" err="1"/>
              <a:t>tedarikçi</a:t>
            </a:r>
            <a:r>
              <a:rPr lang="en-GB" dirty="0"/>
              <a:t> </a:t>
            </a:r>
            <a:r>
              <a:rPr lang="tr-TR" dirty="0"/>
              <a:t>/ alternatif fiyat </a:t>
            </a:r>
            <a:r>
              <a:rPr lang="en-GB" dirty="0" err="1"/>
              <a:t>bilgisi</a:t>
            </a:r>
            <a:r>
              <a:rPr lang="en-GB" dirty="0"/>
              <a:t> </a:t>
            </a:r>
            <a:r>
              <a:rPr lang="en-GB" dirty="0" err="1"/>
              <a:t>içerm</a:t>
            </a:r>
            <a:r>
              <a:rPr lang="tr-TR" dirty="0" err="1"/>
              <a:t>iyor</a:t>
            </a:r>
            <a:r>
              <a:rPr lang="tr-TR"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tr-TR" dirty="0"/>
              <a:t>eldeki verilerin sınırı yüzünden,</a:t>
            </a:r>
            <a:r>
              <a:rPr lang="en-GB" dirty="0"/>
              <a:t> </a:t>
            </a:r>
            <a:r>
              <a:rPr lang="en-GB" dirty="0" err="1"/>
              <a:t>birebir</a:t>
            </a:r>
            <a:r>
              <a:rPr lang="en-GB" dirty="0"/>
              <a:t> “</a:t>
            </a:r>
            <a:r>
              <a:rPr lang="en-GB" dirty="0" err="1"/>
              <a:t>alternatif</a:t>
            </a:r>
            <a:r>
              <a:rPr lang="en-GB" dirty="0"/>
              <a:t> </a:t>
            </a:r>
            <a:r>
              <a:rPr lang="tr-TR" dirty="0"/>
              <a:t>tedarikçi ve </a:t>
            </a:r>
            <a:r>
              <a:rPr lang="en-GB" dirty="0" err="1"/>
              <a:t>fiyat</a:t>
            </a:r>
            <a:r>
              <a:rPr lang="en-GB" dirty="0"/>
              <a:t> </a:t>
            </a:r>
            <a:r>
              <a:rPr lang="en-GB" dirty="0" err="1"/>
              <a:t>karşılaştırması</a:t>
            </a:r>
            <a:r>
              <a:rPr lang="en-GB" dirty="0"/>
              <a:t>”</a:t>
            </a:r>
            <a:r>
              <a:rPr lang="tr-TR" dirty="0"/>
              <a:t> yapılamaz.</a:t>
            </a:r>
            <a:r>
              <a:rPr lang="en-GB" dirty="0"/>
              <a:t> </a:t>
            </a:r>
            <a:r>
              <a:rPr lang="tr-TR" dirty="0"/>
              <a:t>Bunun yerine</a:t>
            </a:r>
            <a:r>
              <a:rPr lang="en-GB" dirty="0"/>
              <a:t> </a:t>
            </a:r>
            <a:r>
              <a:rPr lang="en-GB" dirty="0" err="1"/>
              <a:t>aynı</a:t>
            </a:r>
            <a:r>
              <a:rPr lang="en-GB" dirty="0"/>
              <a:t> </a:t>
            </a:r>
            <a:r>
              <a:rPr lang="en-GB" dirty="0" err="1"/>
              <a:t>kategorideki</a:t>
            </a:r>
            <a:r>
              <a:rPr lang="en-GB" dirty="0"/>
              <a:t> </a:t>
            </a:r>
            <a:r>
              <a:rPr lang="en-GB" dirty="0" err="1"/>
              <a:t>tedarikçiler</a:t>
            </a:r>
            <a:r>
              <a:rPr lang="en-GB" dirty="0"/>
              <a:t> </a:t>
            </a:r>
            <a:r>
              <a:rPr lang="en-GB" dirty="0" err="1"/>
              <a:t>alternatif</a:t>
            </a:r>
            <a:r>
              <a:rPr lang="en-GB" dirty="0"/>
              <a:t> </a:t>
            </a:r>
            <a:r>
              <a:rPr lang="en-GB" dirty="0" err="1"/>
              <a:t>kaynak</a:t>
            </a:r>
            <a:r>
              <a:rPr lang="en-GB" dirty="0"/>
              <a:t> </a:t>
            </a:r>
            <a:r>
              <a:rPr lang="en-GB" dirty="0" err="1"/>
              <a:t>havuzu</a:t>
            </a:r>
            <a:r>
              <a:rPr lang="en-GB" dirty="0"/>
              <a:t> </a:t>
            </a:r>
            <a:r>
              <a:rPr lang="en-GB" dirty="0" err="1"/>
              <a:t>olarak</a:t>
            </a:r>
            <a:r>
              <a:rPr lang="tr-TR" dirty="0"/>
              <a:t> gösterilmiştir. Bu havuzdaki tedarikçiler ile görüşülüp bu kritik 5 ürün için tedarikçi </a:t>
            </a:r>
            <a:r>
              <a:rPr lang="tr-TR" dirty="0" err="1"/>
              <a:t>cesitlendirmesi</a:t>
            </a:r>
            <a:r>
              <a:rPr lang="tr-TR" dirty="0"/>
              <a:t> yapılmalıdır. 7 4 3 5</a:t>
            </a:r>
            <a:endParaRPr lang="tr-TR" sz="1200" dirty="0">
              <a:latin typeface="Times New Roman" panose="02020603050405020304" pitchFamily="18" charset="0"/>
              <a:cs typeface="Times New Roman" panose="02020603050405020304" pitchFamily="18" charset="0"/>
            </a:endParaRPr>
          </a:p>
          <a:p>
            <a:endParaRPr lang="tr-TR"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i="0" u="none" strike="noStrike" kern="1200" dirty="0">
                <a:solidFill>
                  <a:schemeClr val="tx1"/>
                </a:solidFill>
                <a:effectLst/>
                <a:latin typeface="+mn-lt"/>
                <a:ea typeface="+mn-ea"/>
                <a:cs typeface="+mn-cs"/>
              </a:rPr>
              <a:t>Birim Fiyatlar : </a:t>
            </a:r>
            <a:r>
              <a:rPr lang="en-GB" sz="1200" b="0" i="0" u="none" strike="noStrike" kern="1200" dirty="0">
                <a:solidFill>
                  <a:schemeClr val="tx1"/>
                </a:solidFill>
                <a:effectLst/>
                <a:latin typeface="+mn-lt"/>
                <a:ea typeface="+mn-ea"/>
                <a:cs typeface="+mn-cs"/>
              </a:rPr>
              <a:t>Côte de </a:t>
            </a:r>
            <a:r>
              <a:rPr lang="en-GB" sz="1200" b="0" i="0" u="none" strike="noStrike" kern="1200" dirty="0" err="1">
                <a:solidFill>
                  <a:schemeClr val="tx1"/>
                </a:solidFill>
                <a:effectLst/>
                <a:latin typeface="+mn-lt"/>
                <a:ea typeface="+mn-ea"/>
                <a:cs typeface="+mn-cs"/>
              </a:rPr>
              <a:t>Blaye</a:t>
            </a:r>
            <a:r>
              <a:rPr lang="en-GB" sz="1200" b="0" i="0" u="none" strike="noStrike" kern="1200" dirty="0">
                <a:solidFill>
                  <a:schemeClr val="tx1"/>
                </a:solidFill>
                <a:effectLst/>
                <a:latin typeface="+mn-lt"/>
                <a:ea typeface="+mn-ea"/>
                <a:cs typeface="+mn-cs"/>
              </a:rPr>
              <a:t> </a:t>
            </a:r>
            <a:r>
              <a:rPr lang="en-GB" dirty="0">
                <a:effectLst/>
              </a:rPr>
              <a:t> </a:t>
            </a:r>
            <a:r>
              <a:rPr lang="tr-TR" sz="1200" b="0" i="0" u="none" strike="noStrike" kern="1200" dirty="0">
                <a:solidFill>
                  <a:schemeClr val="tx1"/>
                </a:solidFill>
                <a:effectLst/>
                <a:latin typeface="+mn-lt"/>
                <a:ea typeface="+mn-ea"/>
                <a:cs typeface="+mn-cs"/>
              </a:rPr>
              <a:t>263.50</a:t>
            </a:r>
            <a:r>
              <a:rPr lang="en-GB" dirty="0">
                <a:effectLst/>
              </a:rPr>
              <a:t> </a:t>
            </a:r>
            <a:r>
              <a:rPr lang="tr-TR" dirty="0">
                <a:effectLst/>
              </a:rPr>
              <a:t>- </a:t>
            </a:r>
            <a:r>
              <a:rPr lang="en-GB" sz="1200" b="0" i="0" u="none" strike="noStrike" kern="1200" dirty="0">
                <a:solidFill>
                  <a:schemeClr val="tx1"/>
                </a:solidFill>
                <a:effectLst/>
                <a:latin typeface="+mn-lt"/>
                <a:ea typeface="+mn-ea"/>
                <a:cs typeface="+mn-cs"/>
              </a:rPr>
              <a:t>Thüringer </a:t>
            </a:r>
            <a:r>
              <a:rPr lang="en-GB" sz="1200" b="0" i="0" u="none" strike="noStrike" kern="1200" dirty="0" err="1">
                <a:solidFill>
                  <a:schemeClr val="tx1"/>
                </a:solidFill>
                <a:effectLst/>
                <a:latin typeface="+mn-lt"/>
                <a:ea typeface="+mn-ea"/>
                <a:cs typeface="+mn-cs"/>
              </a:rPr>
              <a:t>Rostbratwurst</a:t>
            </a:r>
            <a:r>
              <a:rPr lang="en-GB" sz="1200" b="0" i="0" u="none" strike="noStrike" kern="1200" dirty="0">
                <a:solidFill>
                  <a:schemeClr val="tx1"/>
                </a:solidFill>
                <a:effectLst/>
                <a:latin typeface="+mn-lt"/>
                <a:ea typeface="+mn-ea"/>
                <a:cs typeface="+mn-cs"/>
              </a:rPr>
              <a:t> </a:t>
            </a:r>
            <a:r>
              <a:rPr lang="tr-TR" sz="1200" b="0" i="0" u="none" strike="noStrike" kern="1200" dirty="0">
                <a:solidFill>
                  <a:schemeClr val="tx1"/>
                </a:solidFill>
                <a:effectLst/>
                <a:latin typeface="+mn-lt"/>
                <a:ea typeface="+mn-ea"/>
                <a:cs typeface="+mn-cs"/>
              </a:rPr>
              <a:t>123.79</a:t>
            </a:r>
            <a:r>
              <a:rPr lang="en-GB" dirty="0">
                <a:effectLst/>
              </a:rPr>
              <a:t>  </a:t>
            </a:r>
            <a:r>
              <a:rPr lang="tr-TR" dirty="0">
                <a:effectLst/>
              </a:rPr>
              <a:t>-</a:t>
            </a:r>
            <a:r>
              <a:rPr lang="en-GB" sz="1200" b="0" i="0" u="none" strike="noStrike" kern="1200" dirty="0">
                <a:solidFill>
                  <a:schemeClr val="tx1"/>
                </a:solidFill>
                <a:effectLst/>
                <a:latin typeface="+mn-lt"/>
                <a:ea typeface="+mn-ea"/>
                <a:cs typeface="+mn-cs"/>
              </a:rPr>
              <a:t>Raclette </a:t>
            </a:r>
            <a:r>
              <a:rPr lang="en-GB" sz="1200" b="0" i="0" u="none" strike="noStrike" kern="1200" dirty="0" err="1">
                <a:solidFill>
                  <a:schemeClr val="tx1"/>
                </a:solidFill>
                <a:effectLst/>
                <a:latin typeface="+mn-lt"/>
                <a:ea typeface="+mn-ea"/>
                <a:cs typeface="+mn-cs"/>
              </a:rPr>
              <a:t>Courdavault</a:t>
            </a:r>
            <a:r>
              <a:rPr lang="en-GB" sz="1200" b="0" i="0" u="none" strike="noStrike" kern="1200" dirty="0">
                <a:solidFill>
                  <a:schemeClr val="tx1"/>
                </a:solidFill>
                <a:effectLst/>
                <a:latin typeface="+mn-lt"/>
                <a:ea typeface="+mn-ea"/>
                <a:cs typeface="+mn-cs"/>
              </a:rPr>
              <a:t> </a:t>
            </a:r>
            <a:r>
              <a:rPr lang="tr-TR" sz="1200" b="0" i="0" u="none" strike="noStrike" kern="1200" dirty="0">
                <a:solidFill>
                  <a:schemeClr val="tx1"/>
                </a:solidFill>
                <a:effectLst/>
                <a:latin typeface="+mn-lt"/>
                <a:ea typeface="+mn-ea"/>
                <a:cs typeface="+mn-cs"/>
              </a:rPr>
              <a:t>55</a:t>
            </a:r>
            <a:r>
              <a:rPr lang="en-GB" dirty="0">
                <a:effectLst/>
              </a:rPr>
              <a:t> </a:t>
            </a:r>
            <a:r>
              <a:rPr lang="tr-TR" dirty="0">
                <a:effectLst/>
              </a:rPr>
              <a:t>-</a:t>
            </a:r>
            <a:r>
              <a:rPr lang="en-GB" sz="1200" b="0" i="0" u="none" strike="noStrike" kern="1200" dirty="0">
                <a:solidFill>
                  <a:schemeClr val="tx1"/>
                </a:solidFill>
                <a:effectLst/>
                <a:latin typeface="+mn-lt"/>
                <a:ea typeface="+mn-ea"/>
                <a:cs typeface="+mn-cs"/>
              </a:rPr>
              <a:t>Tarte au sucre</a:t>
            </a:r>
            <a:r>
              <a:rPr lang="en-GB" dirty="0">
                <a:effectLst/>
              </a:rPr>
              <a:t> </a:t>
            </a:r>
            <a:r>
              <a:rPr lang="tr-TR" sz="1200" b="0" i="0" u="none" strike="noStrike" kern="1200" dirty="0">
                <a:solidFill>
                  <a:schemeClr val="tx1"/>
                </a:solidFill>
                <a:effectLst/>
                <a:latin typeface="+mn-lt"/>
                <a:ea typeface="+mn-ea"/>
                <a:cs typeface="+mn-cs"/>
              </a:rPr>
              <a:t>49.30-</a:t>
            </a:r>
            <a:r>
              <a:rPr lang="en-GB" dirty="0">
                <a:effectLst/>
              </a:rPr>
              <a:t> </a:t>
            </a:r>
            <a:r>
              <a:rPr lang="en-GB" sz="1200" b="0" i="0" u="none" strike="noStrike" kern="1200" dirty="0">
                <a:solidFill>
                  <a:schemeClr val="tx1"/>
                </a:solidFill>
                <a:effectLst/>
                <a:latin typeface="+mn-lt"/>
                <a:ea typeface="+mn-ea"/>
                <a:cs typeface="+mn-cs"/>
              </a:rPr>
              <a:t>Camembert Pierrot</a:t>
            </a:r>
            <a:r>
              <a:rPr lang="en-GB" dirty="0">
                <a:effectLst/>
              </a:rPr>
              <a:t> </a:t>
            </a:r>
            <a:r>
              <a:rPr lang="tr-TR" sz="1200" b="0" i="0" u="none" strike="noStrike" kern="1200" dirty="0">
                <a:solidFill>
                  <a:schemeClr val="tx1"/>
                </a:solidFill>
                <a:effectLst/>
                <a:latin typeface="+mn-lt"/>
                <a:ea typeface="+mn-ea"/>
                <a:cs typeface="+mn-cs"/>
              </a:rPr>
              <a:t>34</a:t>
            </a:r>
          </a:p>
          <a:p>
            <a:endParaRPr lang="tr-TR" sz="1200" b="0" i="0" u="none" strike="noStrike" kern="1200" dirty="0">
              <a:solidFill>
                <a:schemeClr val="tx1"/>
              </a:solidFill>
              <a:effectLst/>
              <a:latin typeface="+mn-lt"/>
              <a:ea typeface="+mn-ea"/>
              <a:cs typeface="+mn-cs"/>
            </a:endParaRPr>
          </a:p>
          <a:p>
            <a:r>
              <a:rPr lang="tr-TR" sz="1200" b="0" i="0" u="none" strike="noStrike" kern="1200" dirty="0">
                <a:solidFill>
                  <a:schemeClr val="tx1"/>
                </a:solidFill>
                <a:effectLst/>
                <a:latin typeface="+mn-lt"/>
                <a:ea typeface="+mn-ea"/>
                <a:cs typeface="+mn-cs"/>
              </a:rPr>
              <a:t>Toplam Satış Adet : </a:t>
            </a:r>
            <a:r>
              <a:rPr lang="en-GB" sz="1200" b="0" i="0" u="none" strike="noStrike" kern="1200" dirty="0">
                <a:solidFill>
                  <a:schemeClr val="tx1"/>
                </a:solidFill>
                <a:effectLst/>
                <a:latin typeface="+mn-lt"/>
                <a:ea typeface="+mn-ea"/>
                <a:cs typeface="+mn-cs"/>
              </a:rPr>
              <a:t>Côte de </a:t>
            </a:r>
            <a:r>
              <a:rPr lang="en-GB" sz="1200" b="0" i="0" u="none" strike="noStrike" kern="1200" dirty="0" err="1">
                <a:solidFill>
                  <a:schemeClr val="tx1"/>
                </a:solidFill>
                <a:effectLst/>
                <a:latin typeface="+mn-lt"/>
                <a:ea typeface="+mn-ea"/>
                <a:cs typeface="+mn-cs"/>
              </a:rPr>
              <a:t>Blaye</a:t>
            </a:r>
            <a:r>
              <a:rPr lang="en-GB" sz="1200" b="0" i="0" u="none" strike="noStrike" kern="1200" dirty="0">
                <a:solidFill>
                  <a:schemeClr val="tx1"/>
                </a:solidFill>
                <a:effectLst/>
                <a:latin typeface="+mn-lt"/>
                <a:ea typeface="+mn-ea"/>
                <a:cs typeface="+mn-cs"/>
              </a:rPr>
              <a:t> </a:t>
            </a:r>
            <a:r>
              <a:rPr lang="en-GB" dirty="0">
                <a:effectLst/>
              </a:rPr>
              <a:t> </a:t>
            </a:r>
            <a:r>
              <a:rPr lang="en-GB" sz="1200" b="0" i="0" u="none" strike="noStrike" kern="1200" dirty="0">
                <a:solidFill>
                  <a:schemeClr val="tx1"/>
                </a:solidFill>
                <a:effectLst/>
                <a:latin typeface="+mn-lt"/>
                <a:ea typeface="+mn-ea"/>
                <a:cs typeface="+mn-cs"/>
              </a:rPr>
              <a:t>623</a:t>
            </a:r>
            <a:r>
              <a:rPr lang="en-GB" dirty="0">
                <a:effectLst/>
              </a:rPr>
              <a:t> </a:t>
            </a:r>
            <a:r>
              <a:rPr lang="tr-TR" dirty="0">
                <a:effectLst/>
              </a:rPr>
              <a:t>- </a:t>
            </a:r>
            <a:r>
              <a:rPr lang="en-GB" sz="1200" b="0" i="0" u="none" strike="noStrike" kern="1200" dirty="0">
                <a:solidFill>
                  <a:schemeClr val="tx1"/>
                </a:solidFill>
                <a:effectLst/>
                <a:latin typeface="+mn-lt"/>
                <a:ea typeface="+mn-ea"/>
                <a:cs typeface="+mn-cs"/>
              </a:rPr>
              <a:t>Thüringer </a:t>
            </a:r>
            <a:r>
              <a:rPr lang="en-GB" sz="1200" b="0" i="0" u="none" strike="noStrike" kern="1200" dirty="0" err="1">
                <a:solidFill>
                  <a:schemeClr val="tx1"/>
                </a:solidFill>
                <a:effectLst/>
                <a:latin typeface="+mn-lt"/>
                <a:ea typeface="+mn-ea"/>
                <a:cs typeface="+mn-cs"/>
              </a:rPr>
              <a:t>Rostbratwurst</a:t>
            </a:r>
            <a:r>
              <a:rPr lang="en-GB" sz="1200" b="0" i="0" u="none" strike="noStrike" kern="1200" dirty="0">
                <a:solidFill>
                  <a:schemeClr val="tx1"/>
                </a:solidFill>
                <a:effectLst/>
                <a:latin typeface="+mn-lt"/>
                <a:ea typeface="+mn-ea"/>
                <a:cs typeface="+mn-cs"/>
              </a:rPr>
              <a:t> </a:t>
            </a:r>
            <a:r>
              <a:rPr lang="en-GB" dirty="0">
                <a:effectLst/>
              </a:rPr>
              <a:t> </a:t>
            </a:r>
            <a:r>
              <a:rPr lang="en-GB" sz="1200" b="0" i="0" u="none" strike="noStrike" kern="1200" dirty="0">
                <a:solidFill>
                  <a:schemeClr val="tx1"/>
                </a:solidFill>
                <a:effectLst/>
                <a:latin typeface="+mn-lt"/>
                <a:ea typeface="+mn-ea"/>
                <a:cs typeface="+mn-cs"/>
              </a:rPr>
              <a:t>746</a:t>
            </a:r>
            <a:r>
              <a:rPr lang="en-GB" dirty="0">
                <a:effectLst/>
              </a:rPr>
              <a:t> </a:t>
            </a:r>
            <a:r>
              <a:rPr lang="tr-TR" dirty="0">
                <a:effectLst/>
              </a:rPr>
              <a:t>-</a:t>
            </a:r>
            <a:r>
              <a:rPr lang="en-GB" sz="1200" b="0" i="0" u="none" strike="noStrike" kern="1200" dirty="0">
                <a:solidFill>
                  <a:schemeClr val="tx1"/>
                </a:solidFill>
                <a:effectLst/>
                <a:latin typeface="+mn-lt"/>
                <a:ea typeface="+mn-ea"/>
                <a:cs typeface="+mn-cs"/>
              </a:rPr>
              <a:t>Raclette </a:t>
            </a:r>
            <a:r>
              <a:rPr lang="en-GB" sz="1200" b="0" i="0" u="none" strike="noStrike" kern="1200" dirty="0" err="1">
                <a:solidFill>
                  <a:schemeClr val="tx1"/>
                </a:solidFill>
                <a:effectLst/>
                <a:latin typeface="+mn-lt"/>
                <a:ea typeface="+mn-ea"/>
                <a:cs typeface="+mn-cs"/>
              </a:rPr>
              <a:t>Courdavault</a:t>
            </a:r>
            <a:r>
              <a:rPr lang="en-GB" sz="1200" b="0" i="0" u="none" strike="noStrike" kern="1200" dirty="0">
                <a:solidFill>
                  <a:schemeClr val="tx1"/>
                </a:solidFill>
                <a:effectLst/>
                <a:latin typeface="+mn-lt"/>
                <a:ea typeface="+mn-ea"/>
                <a:cs typeface="+mn-cs"/>
              </a:rPr>
              <a:t> </a:t>
            </a:r>
            <a:r>
              <a:rPr lang="en-GB" dirty="0">
                <a:effectLst/>
              </a:rPr>
              <a:t> </a:t>
            </a:r>
            <a:r>
              <a:rPr lang="en-GB" sz="1200" b="0" i="0" u="none" strike="noStrike" kern="1200" dirty="0">
                <a:solidFill>
                  <a:schemeClr val="tx1"/>
                </a:solidFill>
                <a:effectLst/>
                <a:latin typeface="+mn-lt"/>
                <a:ea typeface="+mn-ea"/>
                <a:cs typeface="+mn-cs"/>
              </a:rPr>
              <a:t>1496</a:t>
            </a:r>
            <a:r>
              <a:rPr lang="en-GB" dirty="0">
                <a:effectLst/>
              </a:rPr>
              <a:t> </a:t>
            </a:r>
            <a:r>
              <a:rPr lang="tr-TR" dirty="0">
                <a:effectLst/>
              </a:rPr>
              <a:t>-</a:t>
            </a:r>
            <a:r>
              <a:rPr lang="en-GB" sz="1200" b="0" i="0" u="none" strike="noStrike" kern="1200" dirty="0">
                <a:solidFill>
                  <a:schemeClr val="tx1"/>
                </a:solidFill>
                <a:effectLst/>
                <a:latin typeface="+mn-lt"/>
                <a:ea typeface="+mn-ea"/>
                <a:cs typeface="+mn-cs"/>
              </a:rPr>
              <a:t>Tarte au sucre</a:t>
            </a:r>
            <a:r>
              <a:rPr lang="en-GB" dirty="0">
                <a:effectLst/>
              </a:rPr>
              <a:t> </a:t>
            </a:r>
            <a:r>
              <a:rPr lang="en-GB" sz="1200" b="0" i="0" u="none" strike="noStrike" kern="1200" dirty="0">
                <a:solidFill>
                  <a:schemeClr val="tx1"/>
                </a:solidFill>
                <a:effectLst/>
                <a:latin typeface="+mn-lt"/>
                <a:ea typeface="+mn-ea"/>
                <a:cs typeface="+mn-cs"/>
              </a:rPr>
              <a:t>1083</a:t>
            </a:r>
            <a:r>
              <a:rPr lang="tr-TR" sz="1200" b="0" i="0" u="none" strike="noStrike" kern="1200" dirty="0">
                <a:solidFill>
                  <a:schemeClr val="tx1"/>
                </a:solidFill>
                <a:effectLst/>
                <a:latin typeface="+mn-lt"/>
                <a:ea typeface="+mn-ea"/>
                <a:cs typeface="+mn-cs"/>
              </a:rPr>
              <a:t>-</a:t>
            </a:r>
            <a:r>
              <a:rPr lang="en-GB" dirty="0">
                <a:effectLst/>
              </a:rPr>
              <a:t> </a:t>
            </a:r>
            <a:r>
              <a:rPr lang="en-GB" sz="1200" b="0" i="0" u="none" strike="noStrike" kern="1200" dirty="0">
                <a:solidFill>
                  <a:schemeClr val="tx1"/>
                </a:solidFill>
                <a:effectLst/>
                <a:latin typeface="+mn-lt"/>
                <a:ea typeface="+mn-ea"/>
                <a:cs typeface="+mn-cs"/>
              </a:rPr>
              <a:t>Camembert Pierrot</a:t>
            </a:r>
            <a:r>
              <a:rPr lang="en-GB" dirty="0">
                <a:effectLst/>
              </a:rPr>
              <a:t> </a:t>
            </a:r>
            <a:r>
              <a:rPr lang="en-GB" sz="1200" b="0" i="0" u="none" strike="noStrike" kern="1200" dirty="0">
                <a:solidFill>
                  <a:schemeClr val="tx1"/>
                </a:solidFill>
                <a:effectLst/>
                <a:latin typeface="+mn-lt"/>
                <a:ea typeface="+mn-ea"/>
                <a:cs typeface="+mn-cs"/>
              </a:rPr>
              <a:t>1577</a:t>
            </a:r>
            <a:r>
              <a:rPr lang="en-GB" dirty="0">
                <a:effectLst/>
              </a:rPr>
              <a:t> </a:t>
            </a:r>
            <a:endParaRPr lang="tr-TR" dirty="0">
              <a:effectLst/>
            </a:endParaRPr>
          </a:p>
          <a:p>
            <a:endParaRPr lang="tr-TR" dirty="0"/>
          </a:p>
        </p:txBody>
      </p:sp>
      <p:sp>
        <p:nvSpPr>
          <p:cNvPr id="4" name="Slide Number Placeholder 3">
            <a:extLst>
              <a:ext uri="{FF2B5EF4-FFF2-40B4-BE49-F238E27FC236}">
                <a16:creationId xmlns:a16="http://schemas.microsoft.com/office/drawing/2014/main" id="{81E96D9E-BBA9-2E42-2F30-3E6D9DD645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CFB90E-9F22-4760-AD4E-8715C179F1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89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1C2E8-2F67-96FD-E1B8-D9B777E31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06938-4519-7482-80F8-8091B0EFFC3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7B53C46-1E39-CBC1-C124-575F06907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tr-TR"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5542E35-1938-C58C-72CA-F78F831792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CFB90E-9F22-4760-AD4E-8715C179F1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83032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D918-88C8-09E4-6F16-243128CA4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7E820-C390-60FE-8BC8-92C0602372C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DA8B473-0F45-713E-E887-6841D3667544}"/>
              </a:ext>
            </a:extLst>
          </p:cNvPr>
          <p:cNvSpPr>
            <a:spLocks noGrp="1"/>
          </p:cNvSpPr>
          <p:nvPr>
            <p:ph type="body" idx="1"/>
          </p:nvPr>
        </p:nvSpPr>
        <p:spPr/>
        <p:txBody>
          <a:bodyPr/>
          <a:lstStyle/>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a:p>
            <a:endParaRPr lang="tr-TR"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6AF83C5-E973-13DE-E407-DB7819A032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CFB90E-9F22-4760-AD4E-8715C179F1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413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366F9-DB77-8F6F-C470-9F422BF23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82539-81AF-34E9-A270-A45DF912FFB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58BB7EE-632A-A907-4171-B150B3FE2BE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72DFE09-5DE6-08F2-C569-E94BF57D41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CFB90E-9F22-4760-AD4E-8715C179F1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82595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C2600-B474-2D6D-D421-7DA3730023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16945C4-7AAF-38EF-4633-D095B5455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9A24587-4058-FE2B-C955-EFC3F47A5452}"/>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4C8B9784-996F-1ECC-A8B4-F876248F0E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BA64C7-E2FE-5347-C4F7-899A1BD7DED3}"/>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115526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F3645-7805-0757-C682-90C58B8558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9D9E400-8A88-88AF-F958-F3C32487B7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F3A486-0130-2AD4-0E3B-A87788097196}"/>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6B346A72-E8C7-3E47-6E6A-1B3A3CA6D2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E0D256-96E7-5032-141E-BCC742CC8A1E}"/>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3478316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660A7-655D-7DA7-751E-5ED66EC16F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101E9FF-AC11-DC7A-EF0D-2CADFBFD84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98596-AD41-3798-AEE3-5721E5DFB6B4}"/>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769E1D1D-EB94-377E-2E0D-5FF0ECA0FC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642913-641C-6B54-83B7-C0B0F2C17036}"/>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2818839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CFC7-375C-FE51-B990-148D5C8292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E6DA5E9-F256-7F5A-09ED-45D4E56D61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F690C5C-BD6F-5330-E112-FBDF886565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B6DB2E0-9DED-B1A2-9B7F-19669545B9EA}"/>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6" name="Footer Placeholder 5">
            <a:extLst>
              <a:ext uri="{FF2B5EF4-FFF2-40B4-BE49-F238E27FC236}">
                <a16:creationId xmlns:a16="http://schemas.microsoft.com/office/drawing/2014/main" id="{B3BFD831-60AE-DFC4-6CAE-3BCA27C8F0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A28DED-AD96-2089-B7C7-4E4A2586B7F0}"/>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4218729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4912-73B9-31C7-AAAA-C6B1CB77E8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5778D8F-C50D-BD84-EEC5-06CE66C6F6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46AF69-6BD0-A5EC-DEF5-6CDF827151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D9D3C0C-4D09-CF87-7A1B-DFBD26321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95D4C9-51D2-F862-4D2A-15C9D98092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3227C68-993D-5BA7-41EC-B6DB359B2E7D}"/>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8" name="Footer Placeholder 7">
            <a:extLst>
              <a:ext uri="{FF2B5EF4-FFF2-40B4-BE49-F238E27FC236}">
                <a16:creationId xmlns:a16="http://schemas.microsoft.com/office/drawing/2014/main" id="{78F12C8C-4166-E335-38E7-19639337DE9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F781576-D8FF-B31F-973A-199536E02DEA}"/>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37759800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9D1B2-C919-4D9D-EA66-6AC87A0C2F2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3410C42-C684-5DDD-1BE8-5C04942E8414}"/>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4" name="Footer Placeholder 3">
            <a:extLst>
              <a:ext uri="{FF2B5EF4-FFF2-40B4-BE49-F238E27FC236}">
                <a16:creationId xmlns:a16="http://schemas.microsoft.com/office/drawing/2014/main" id="{252086CF-A278-431F-E876-A492C65B108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3648E21-8064-AAA8-8B06-7DE9E0DCC7F2}"/>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1108133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86D26-7DAD-FE95-A670-28135D3771F2}"/>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3" name="Footer Placeholder 2">
            <a:extLst>
              <a:ext uri="{FF2B5EF4-FFF2-40B4-BE49-F238E27FC236}">
                <a16:creationId xmlns:a16="http://schemas.microsoft.com/office/drawing/2014/main" id="{9BDC4EC2-3412-50B9-8C82-78D2B7CE781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E64FE3D-4F25-3E4C-863F-67A1EE0F54D4}"/>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1578689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EE107-BF1D-3605-B186-74CBD404B6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E751B4-AA9A-A4F8-59EB-3117411680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DE415D4-ABEE-7CC8-DA92-A9128F6D7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7805D-73CB-617C-A9D7-1FF74BD6B6C6}"/>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6" name="Footer Placeholder 5">
            <a:extLst>
              <a:ext uri="{FF2B5EF4-FFF2-40B4-BE49-F238E27FC236}">
                <a16:creationId xmlns:a16="http://schemas.microsoft.com/office/drawing/2014/main" id="{8AF67DF2-85CA-1951-BF7D-54A67CECFA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853490-A203-003D-9973-93005BCD26EC}"/>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349016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E942-18A6-2EBE-8DFA-970C27EBCC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18E9F76-86A2-A6F6-3BA3-287D0EB717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96D95C0-1627-C814-37D9-8A432007C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80C1D-F6C8-A7DB-1835-C127A77E20D8}"/>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6" name="Footer Placeholder 5">
            <a:extLst>
              <a:ext uri="{FF2B5EF4-FFF2-40B4-BE49-F238E27FC236}">
                <a16:creationId xmlns:a16="http://schemas.microsoft.com/office/drawing/2014/main" id="{33FD6F4E-A3F8-A007-5F8B-6168A1A32A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FB80BE2-6949-70EA-7729-91D8A44854D9}"/>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2679602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EF7B3-FDC6-135F-071B-595D1963021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DF978D6-0AAB-CAFD-BD16-48C3967F7F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784E63-8EAB-0C15-1985-3A909A650330}"/>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C9539724-5B36-8E09-492B-A3523F2BCE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DA26F2C-72B7-C9FD-6E6E-486C5AC40495}"/>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4060071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EE1F54-16DA-F5B8-1855-2550C06D58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35C7463-F7C9-C899-BFC8-A323C323FD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E81AB99-C939-3909-0504-F98370ECF60F}"/>
              </a:ext>
            </a:extLst>
          </p:cNvPr>
          <p:cNvSpPr>
            <a:spLocks noGrp="1"/>
          </p:cNvSpPr>
          <p:nvPr>
            <p:ph type="dt" sz="half" idx="10"/>
          </p:nvPr>
        </p:nvSpPr>
        <p:spPr/>
        <p:txBody>
          <a:body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D9465B46-C00C-4A18-0F76-F54C0F19A1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CBC483-1461-28C9-244F-644303F8DFD1}"/>
              </a:ext>
            </a:extLst>
          </p:cNvPr>
          <p:cNvSpPr>
            <a:spLocks noGrp="1"/>
          </p:cNvSpPr>
          <p:nvPr>
            <p:ph type="sldNum" sz="quarter" idx="12"/>
          </p:nvPr>
        </p:nvSpPr>
        <p:spPr/>
        <p:txBody>
          <a:bodyPr/>
          <a:lstStyle/>
          <a:p>
            <a:fld id="{E8C6A049-63EE-4E0F-9485-961BEC1BF1D7}" type="slidenum">
              <a:rPr lang="en-GB" smtClean="0"/>
              <a:t>‹#›</a:t>
            </a:fld>
            <a:endParaRPr lang="en-GB"/>
          </a:p>
        </p:txBody>
      </p:sp>
    </p:spTree>
    <p:extLst>
      <p:ext uri="{BB962C8B-B14F-4D97-AF65-F5344CB8AC3E}">
        <p14:creationId xmlns:p14="http://schemas.microsoft.com/office/powerpoint/2010/main" val="2832215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8D113-20A8-0A99-0242-95F704C9F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5D0C67B-50B2-65B6-7ADD-27311F46C5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541738-D93C-D583-B234-FE58AD1324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0DF09CA-C91A-48F2-AE77-2471EA6A0381}" type="datetimeFigureOut">
              <a:rPr lang="en-GB" smtClean="0"/>
              <a:t>15/04/2026</a:t>
            </a:fld>
            <a:endParaRPr lang="en-GB"/>
          </a:p>
        </p:txBody>
      </p:sp>
      <p:sp>
        <p:nvSpPr>
          <p:cNvPr id="5" name="Footer Placeholder 4">
            <a:extLst>
              <a:ext uri="{FF2B5EF4-FFF2-40B4-BE49-F238E27FC236}">
                <a16:creationId xmlns:a16="http://schemas.microsoft.com/office/drawing/2014/main" id="{93183170-10C3-C7A8-4D30-C86A217B9B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3BEB7AE-0771-72D9-4C45-60D554367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C6A049-63EE-4E0F-9485-961BEC1BF1D7}" type="slidenum">
              <a:rPr lang="en-GB" smtClean="0"/>
              <a:t>‹#›</a:t>
            </a:fld>
            <a:endParaRPr lang="en-GB"/>
          </a:p>
        </p:txBody>
      </p:sp>
    </p:spTree>
    <p:extLst>
      <p:ext uri="{BB962C8B-B14F-4D97-AF65-F5344CB8AC3E}">
        <p14:creationId xmlns:p14="http://schemas.microsoft.com/office/powerpoint/2010/main" val="2746983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FA4E651-C3D8-4DB8-A026-E8531C6AF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9990046-DE4E-33BB-CA2A-A29B9947286E}"/>
              </a:ext>
            </a:extLst>
          </p:cNvPr>
          <p:cNvSpPr>
            <a:spLocks noGrp="1"/>
          </p:cNvSpPr>
          <p:nvPr>
            <p:ph type="ctrTitle"/>
          </p:nvPr>
        </p:nvSpPr>
        <p:spPr>
          <a:xfrm>
            <a:off x="836363" y="4071597"/>
            <a:ext cx="10515600" cy="1286544"/>
          </a:xfrm>
          <a:noFill/>
        </p:spPr>
        <p:txBody>
          <a:bodyPr anchor="b">
            <a:normAutofit/>
          </a:bodyPr>
          <a:lstStyle/>
          <a:p>
            <a:r>
              <a:rPr lang="tr-TR" sz="5200" dirty="0">
                <a:latin typeface="Times New Roman" panose="02020603050405020304" pitchFamily="18" charset="0"/>
                <a:cs typeface="Times New Roman" panose="02020603050405020304" pitchFamily="18" charset="0"/>
              </a:rPr>
              <a:t>M2M Analytics</a:t>
            </a:r>
            <a:endParaRPr lang="en-GB" sz="5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AAE4092-F557-0B72-8887-836E442B8652}"/>
              </a:ext>
            </a:extLst>
          </p:cNvPr>
          <p:cNvSpPr>
            <a:spLocks noGrp="1"/>
          </p:cNvSpPr>
          <p:nvPr>
            <p:ph type="subTitle" idx="1"/>
          </p:nvPr>
        </p:nvSpPr>
        <p:spPr>
          <a:xfrm>
            <a:off x="839469" y="5572126"/>
            <a:ext cx="10509388" cy="556964"/>
          </a:xfrm>
          <a:noFill/>
        </p:spPr>
        <p:txBody>
          <a:bodyPr>
            <a:normAutofit/>
          </a:bodyPr>
          <a:lstStyle/>
          <a:p>
            <a:r>
              <a:rPr lang="tr-TR" dirty="0">
                <a:latin typeface="Times New Roman" panose="02020603050405020304" pitchFamily="18" charset="0"/>
                <a:cs typeface="Times New Roman" panose="02020603050405020304" pitchFamily="18" charset="0"/>
              </a:rPr>
              <a:t>Sarp Esenyel 24.12.2025</a:t>
            </a:r>
            <a:endParaRPr lang="en-GB" dirty="0">
              <a:latin typeface="Times New Roman" panose="02020603050405020304" pitchFamily="18" charset="0"/>
              <a:cs typeface="Times New Roman" panose="02020603050405020304" pitchFamily="18" charset="0"/>
            </a:endParaRPr>
          </a:p>
        </p:txBody>
      </p:sp>
      <p:pic>
        <p:nvPicPr>
          <p:cNvPr id="5" name="Picture 4" descr="A computer servers with glowing letters&#10;&#10;AI-generated content may be incorrect.">
            <a:extLst>
              <a:ext uri="{FF2B5EF4-FFF2-40B4-BE49-F238E27FC236}">
                <a16:creationId xmlns:a16="http://schemas.microsoft.com/office/drawing/2014/main" id="{55046A19-4555-A616-EDAE-62BDEA50AFEA}"/>
              </a:ext>
            </a:extLst>
          </p:cNvPr>
          <p:cNvPicPr>
            <a:picLocks noChangeAspect="1"/>
          </p:cNvPicPr>
          <p:nvPr/>
        </p:nvPicPr>
        <p:blipFill>
          <a:blip r:embed="rId3">
            <a:extLst>
              <a:ext uri="{28A0092B-C50C-407E-A947-70E740481C1C}">
                <a14:useLocalDpi xmlns:a14="http://schemas.microsoft.com/office/drawing/2010/main" val="0"/>
              </a:ext>
            </a:extLst>
          </a:blip>
          <a:srcRect t="17472" b="23832"/>
          <a:stretch>
            <a:fillRect/>
          </a:stretch>
        </p:blipFill>
        <p:spPr>
          <a:xfrm>
            <a:off x="20" y="2"/>
            <a:ext cx="12191979" cy="3900104"/>
          </a:xfrm>
          <a:prstGeom prst="rect">
            <a:avLst/>
          </a:prstGeom>
        </p:spPr>
      </p:pic>
      <p:pic>
        <p:nvPicPr>
          <p:cNvPr id="4" name="Picture 3">
            <a:extLst>
              <a:ext uri="{FF2B5EF4-FFF2-40B4-BE49-F238E27FC236}">
                <a16:creationId xmlns:a16="http://schemas.microsoft.com/office/drawing/2014/main" id="{9B446A00-2F63-848C-46A3-966C1C22EF7E}"/>
              </a:ext>
            </a:extLst>
          </p:cNvPr>
          <p:cNvPicPr>
            <a:picLocks noChangeAspect="1"/>
          </p:cNvPicPr>
          <p:nvPr/>
        </p:nvPicPr>
        <p:blipFill>
          <a:blip r:embed="rId4"/>
          <a:stretch>
            <a:fillRect/>
          </a:stretch>
        </p:blipFill>
        <p:spPr>
          <a:xfrm>
            <a:off x="11117414" y="6271385"/>
            <a:ext cx="1074587" cy="586615"/>
          </a:xfrm>
          <a:prstGeom prst="rect">
            <a:avLst/>
          </a:prstGeom>
        </p:spPr>
      </p:pic>
    </p:spTree>
    <p:extLst>
      <p:ext uri="{BB962C8B-B14F-4D97-AF65-F5344CB8AC3E}">
        <p14:creationId xmlns:p14="http://schemas.microsoft.com/office/powerpoint/2010/main" val="4042572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DE0367-3788-522E-8FCF-AF46398B71A1}"/>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FC24B3E-489C-8DBD-0FFF-D8E1DDD2F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033" name="Group 1032">
            <a:extLst>
              <a:ext uri="{FF2B5EF4-FFF2-40B4-BE49-F238E27FC236}">
                <a16:creationId xmlns:a16="http://schemas.microsoft.com/office/drawing/2014/main" id="{122B8B66-6A83-31D3-45B6-39ED55E625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034" name="Rectangle 1033">
              <a:extLst>
                <a:ext uri="{FF2B5EF4-FFF2-40B4-BE49-F238E27FC236}">
                  <a16:creationId xmlns:a16="http://schemas.microsoft.com/office/drawing/2014/main" id="{475E5B56-AAA0-8D7C-764E-A8A11C32E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FD7829BB-7363-54FA-667B-AF112DFC52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6" name="Rectangle 1035">
              <a:extLst>
                <a:ext uri="{FF2B5EF4-FFF2-40B4-BE49-F238E27FC236}">
                  <a16:creationId xmlns:a16="http://schemas.microsoft.com/office/drawing/2014/main" id="{D7D42B77-AAE6-96A1-7727-9760C412A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2" name="Title 1">
            <a:extLst>
              <a:ext uri="{FF2B5EF4-FFF2-40B4-BE49-F238E27FC236}">
                <a16:creationId xmlns:a16="http://schemas.microsoft.com/office/drawing/2014/main" id="{B88E9BC8-745D-7337-AC40-288519CA0A40}"/>
              </a:ext>
            </a:extLst>
          </p:cNvPr>
          <p:cNvSpPr txBox="1">
            <a:spLocks/>
          </p:cNvSpPr>
          <p:nvPr/>
        </p:nvSpPr>
        <p:spPr>
          <a:xfrm>
            <a:off x="0" y="-1"/>
            <a:ext cx="12191997" cy="15754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lang="tr-TR" dirty="0">
                <a:solidFill>
                  <a:srgbClr val="FFFFFF"/>
                </a:solidFill>
                <a:latin typeface="Times New Roman" panose="02020603050405020304" pitchFamily="18" charset="0"/>
                <a:cs typeface="Times New Roman" panose="02020603050405020304" pitchFamily="18" charset="0"/>
              </a:rPr>
              <a:t>Main </a:t>
            </a:r>
            <a:r>
              <a:rPr lang="tr-TR" dirty="0" err="1">
                <a:solidFill>
                  <a:srgbClr val="FFFFFF"/>
                </a:solidFill>
                <a:latin typeface="Times New Roman" panose="02020603050405020304" pitchFamily="18" charset="0"/>
                <a:cs typeface="Times New Roman" panose="02020603050405020304" pitchFamily="18" charset="0"/>
              </a:rPr>
              <a:t>Scope</a:t>
            </a:r>
            <a:endParaRPr kumimoji="0" lang="en-US" b="0" i="0" u="none" strike="noStrike" kern="1200" cap="none" spc="0" normalizeH="0" baseline="0" noProof="0" dirty="0">
              <a:ln>
                <a:noFill/>
              </a:ln>
              <a:solidFill>
                <a:srgbClr val="FFFFFF"/>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DED91FF-3183-F172-F217-59F437465321}"/>
              </a:ext>
            </a:extLst>
          </p:cNvPr>
          <p:cNvPicPr>
            <a:picLocks noChangeAspect="1"/>
          </p:cNvPicPr>
          <p:nvPr/>
        </p:nvPicPr>
        <p:blipFill>
          <a:blip r:embed="rId3"/>
          <a:stretch>
            <a:fillRect/>
          </a:stretch>
        </p:blipFill>
        <p:spPr>
          <a:xfrm>
            <a:off x="11117414" y="6271385"/>
            <a:ext cx="1074587" cy="586615"/>
          </a:xfrm>
          <a:prstGeom prst="rect">
            <a:avLst/>
          </a:prstGeom>
        </p:spPr>
      </p:pic>
      <p:sp>
        <p:nvSpPr>
          <p:cNvPr id="6" name="AutoShape 2">
            <a:extLst>
              <a:ext uri="{FF2B5EF4-FFF2-40B4-BE49-F238E27FC236}">
                <a16:creationId xmlns:a16="http://schemas.microsoft.com/office/drawing/2014/main" id="{D9650F7F-1E2F-061C-A0C0-2F201EE3FC1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3" name="Picture 12" descr="A close-up of an orange machine&#10;&#10;AI-generated content may be incorrect.">
            <a:extLst>
              <a:ext uri="{FF2B5EF4-FFF2-40B4-BE49-F238E27FC236}">
                <a16:creationId xmlns:a16="http://schemas.microsoft.com/office/drawing/2014/main" id="{3F6A51F8-1C30-8C55-9588-715924D87C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8684" y="1928267"/>
            <a:ext cx="8359431" cy="4220533"/>
          </a:xfrm>
          <a:prstGeom prst="rect">
            <a:avLst/>
          </a:prstGeom>
        </p:spPr>
      </p:pic>
    </p:spTree>
    <p:extLst>
      <p:ext uri="{BB962C8B-B14F-4D97-AF65-F5344CB8AC3E}">
        <p14:creationId xmlns:p14="http://schemas.microsoft.com/office/powerpoint/2010/main" val="2134941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B79AC-49F7-ABBC-110A-F7A8C671D8E0}"/>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6CE6D0A-7AA1-FE14-498D-1806574A5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1033" name="Group 1032">
            <a:extLst>
              <a:ext uri="{FF2B5EF4-FFF2-40B4-BE49-F238E27FC236}">
                <a16:creationId xmlns:a16="http://schemas.microsoft.com/office/drawing/2014/main" id="{BA234043-DBF6-1CEE-0F00-454376DE5A3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034" name="Rectangle 1033">
              <a:extLst>
                <a:ext uri="{FF2B5EF4-FFF2-40B4-BE49-F238E27FC236}">
                  <a16:creationId xmlns:a16="http://schemas.microsoft.com/office/drawing/2014/main" id="{B6F632E8-2D72-306F-7C05-4F4376B6F7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948B870B-46E2-46BE-D35C-299518E40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6" name="Rectangle 1035">
              <a:extLst>
                <a:ext uri="{FF2B5EF4-FFF2-40B4-BE49-F238E27FC236}">
                  <a16:creationId xmlns:a16="http://schemas.microsoft.com/office/drawing/2014/main" id="{D273A28C-2D9F-217F-75DE-5C040FBD3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12" name="Title 1">
            <a:extLst>
              <a:ext uri="{FF2B5EF4-FFF2-40B4-BE49-F238E27FC236}">
                <a16:creationId xmlns:a16="http://schemas.microsoft.com/office/drawing/2014/main" id="{B70E1AF6-3B8B-E2B3-19AE-41B94D6548C3}"/>
              </a:ext>
            </a:extLst>
          </p:cNvPr>
          <p:cNvSpPr txBox="1">
            <a:spLocks/>
          </p:cNvSpPr>
          <p:nvPr/>
        </p:nvSpPr>
        <p:spPr>
          <a:xfrm>
            <a:off x="0" y="-1"/>
            <a:ext cx="12191997" cy="15754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tr-TR" dirty="0" err="1">
                <a:solidFill>
                  <a:srgbClr val="FFFFFF"/>
                </a:solidFill>
                <a:latin typeface="Times New Roman" panose="02020603050405020304" pitchFamily="18" charset="0"/>
                <a:cs typeface="Times New Roman" panose="02020603050405020304" pitchFamily="18" charset="0"/>
              </a:rPr>
              <a:t>Products</a:t>
            </a:r>
            <a:r>
              <a:rPr lang="tr-TR" dirty="0">
                <a:solidFill>
                  <a:srgbClr val="FFFFFF"/>
                </a:solidFill>
                <a:latin typeface="Times New Roman" panose="02020603050405020304" pitchFamily="18" charset="0"/>
                <a:cs typeface="Times New Roman" panose="02020603050405020304" pitchFamily="18" charset="0"/>
              </a:rPr>
              <a:t> </a:t>
            </a:r>
            <a:r>
              <a:rPr lang="tr-TR" dirty="0" err="1">
                <a:solidFill>
                  <a:srgbClr val="FFFFFF"/>
                </a:solidFill>
                <a:latin typeface="Times New Roman" panose="02020603050405020304" pitchFamily="18" charset="0"/>
                <a:cs typeface="Times New Roman" panose="02020603050405020304" pitchFamily="18" charset="0"/>
              </a:rPr>
              <a:t>and</a:t>
            </a:r>
            <a:r>
              <a:rPr lang="tr-TR" dirty="0">
                <a:solidFill>
                  <a:srgbClr val="FFFFFF"/>
                </a:solidFill>
                <a:latin typeface="Times New Roman" panose="02020603050405020304" pitchFamily="18" charset="0"/>
                <a:cs typeface="Times New Roman" panose="02020603050405020304" pitchFamily="18" charset="0"/>
              </a:rPr>
              <a:t> Suppliers</a:t>
            </a:r>
            <a:endParaRPr lang="en-US" dirty="0">
              <a:solidFill>
                <a:srgbClr val="FFFFFF"/>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6AD5762-E647-8A43-8EFA-3F3C733A0D49}"/>
              </a:ext>
            </a:extLst>
          </p:cNvPr>
          <p:cNvSpPr txBox="1"/>
          <p:nvPr/>
        </p:nvSpPr>
        <p:spPr>
          <a:xfrm>
            <a:off x="3189081" y="5473253"/>
            <a:ext cx="1472697" cy="923330"/>
          </a:xfrm>
          <a:prstGeom prst="rect">
            <a:avLst/>
          </a:prstGeom>
          <a:solidFill>
            <a:srgbClr val="133E53"/>
          </a:solidFill>
        </p:spPr>
        <p:txBody>
          <a:bodyPr wrap="square" rtlCol="0">
            <a:spAutoFit/>
          </a:bodyPr>
          <a:lstStyle/>
          <a:p>
            <a:r>
              <a:rPr lang="tr-TR" dirty="0">
                <a:solidFill>
                  <a:schemeClr val="bg1"/>
                </a:solidFill>
              </a:rPr>
              <a:t>Toplam Gelir €1.27M </a:t>
            </a:r>
          </a:p>
          <a:p>
            <a:endParaRPr lang="en-GB" dirty="0">
              <a:solidFill>
                <a:schemeClr val="bg1"/>
              </a:solidFill>
            </a:endParaRPr>
          </a:p>
        </p:txBody>
      </p:sp>
      <p:sp>
        <p:nvSpPr>
          <p:cNvPr id="14" name="TextBox 13">
            <a:extLst>
              <a:ext uri="{FF2B5EF4-FFF2-40B4-BE49-F238E27FC236}">
                <a16:creationId xmlns:a16="http://schemas.microsoft.com/office/drawing/2014/main" id="{646B4B88-AE93-ED7D-BB01-EBF200611F2D}"/>
              </a:ext>
            </a:extLst>
          </p:cNvPr>
          <p:cNvSpPr txBox="1"/>
          <p:nvPr/>
        </p:nvSpPr>
        <p:spPr>
          <a:xfrm>
            <a:off x="4700257" y="5473253"/>
            <a:ext cx="1472697" cy="923330"/>
          </a:xfrm>
          <a:prstGeom prst="rect">
            <a:avLst/>
          </a:prstGeom>
          <a:solidFill>
            <a:srgbClr val="133E53"/>
          </a:solidFill>
        </p:spPr>
        <p:txBody>
          <a:bodyPr wrap="square" rtlCol="0">
            <a:spAutoFit/>
          </a:bodyPr>
          <a:lstStyle/>
          <a:p>
            <a:r>
              <a:rPr lang="tr-TR" dirty="0">
                <a:solidFill>
                  <a:schemeClr val="bg1"/>
                </a:solidFill>
              </a:rPr>
              <a:t>5 Ürün Toplam Gelir € 386K</a:t>
            </a:r>
            <a:endParaRPr lang="en-GB" dirty="0">
              <a:solidFill>
                <a:schemeClr val="bg1"/>
              </a:solidFill>
            </a:endParaRPr>
          </a:p>
        </p:txBody>
      </p:sp>
      <p:sp>
        <p:nvSpPr>
          <p:cNvPr id="16" name="TextBox 15">
            <a:extLst>
              <a:ext uri="{FF2B5EF4-FFF2-40B4-BE49-F238E27FC236}">
                <a16:creationId xmlns:a16="http://schemas.microsoft.com/office/drawing/2014/main" id="{ACD99055-905E-0FD0-D4DB-C8130AA50409}"/>
              </a:ext>
            </a:extLst>
          </p:cNvPr>
          <p:cNvSpPr txBox="1"/>
          <p:nvPr/>
        </p:nvSpPr>
        <p:spPr>
          <a:xfrm>
            <a:off x="4004650" y="6431697"/>
            <a:ext cx="1472697" cy="369332"/>
          </a:xfrm>
          <a:prstGeom prst="rect">
            <a:avLst/>
          </a:prstGeom>
          <a:solidFill>
            <a:srgbClr val="133E53"/>
          </a:solidFill>
        </p:spPr>
        <p:txBody>
          <a:bodyPr wrap="square" rtlCol="0">
            <a:spAutoFit/>
          </a:bodyPr>
          <a:lstStyle/>
          <a:p>
            <a:r>
              <a:rPr lang="tr-TR" dirty="0">
                <a:solidFill>
                  <a:schemeClr val="bg1"/>
                </a:solidFill>
              </a:rPr>
              <a:t>Oran %31</a:t>
            </a:r>
            <a:endParaRPr lang="en-GB" dirty="0">
              <a:solidFill>
                <a:schemeClr val="bg1"/>
              </a:solidFill>
            </a:endParaRPr>
          </a:p>
        </p:txBody>
      </p:sp>
      <p:pic>
        <p:nvPicPr>
          <p:cNvPr id="9" name="Picture 8">
            <a:extLst>
              <a:ext uri="{FF2B5EF4-FFF2-40B4-BE49-F238E27FC236}">
                <a16:creationId xmlns:a16="http://schemas.microsoft.com/office/drawing/2014/main" id="{F304A2E7-50CB-7C46-A491-80E0A62DB1C1}"/>
              </a:ext>
            </a:extLst>
          </p:cNvPr>
          <p:cNvPicPr>
            <a:picLocks noChangeAspect="1"/>
          </p:cNvPicPr>
          <p:nvPr/>
        </p:nvPicPr>
        <p:blipFill>
          <a:blip r:embed="rId3"/>
          <a:stretch>
            <a:fillRect/>
          </a:stretch>
        </p:blipFill>
        <p:spPr>
          <a:xfrm>
            <a:off x="-3" y="1527986"/>
            <a:ext cx="6811687" cy="4620022"/>
          </a:xfrm>
          <a:prstGeom prst="rect">
            <a:avLst/>
          </a:prstGeom>
        </p:spPr>
      </p:pic>
      <p:pic>
        <p:nvPicPr>
          <p:cNvPr id="4" name="Picture 3">
            <a:extLst>
              <a:ext uri="{FF2B5EF4-FFF2-40B4-BE49-F238E27FC236}">
                <a16:creationId xmlns:a16="http://schemas.microsoft.com/office/drawing/2014/main" id="{0BE39A39-F465-C003-3D2F-E856E5A9C165}"/>
              </a:ext>
            </a:extLst>
          </p:cNvPr>
          <p:cNvPicPr>
            <a:picLocks noChangeAspect="1"/>
          </p:cNvPicPr>
          <p:nvPr/>
        </p:nvPicPr>
        <p:blipFill>
          <a:blip r:embed="rId4"/>
          <a:stretch>
            <a:fillRect/>
          </a:stretch>
        </p:blipFill>
        <p:spPr>
          <a:xfrm>
            <a:off x="7451002" y="1698165"/>
            <a:ext cx="4377300" cy="5036143"/>
          </a:xfrm>
          <a:prstGeom prst="rect">
            <a:avLst/>
          </a:prstGeom>
        </p:spPr>
      </p:pic>
      <p:pic>
        <p:nvPicPr>
          <p:cNvPr id="2" name="Picture 1">
            <a:extLst>
              <a:ext uri="{FF2B5EF4-FFF2-40B4-BE49-F238E27FC236}">
                <a16:creationId xmlns:a16="http://schemas.microsoft.com/office/drawing/2014/main" id="{CE0020FF-3FB1-A508-7151-C0096AA6D131}"/>
              </a:ext>
            </a:extLst>
          </p:cNvPr>
          <p:cNvPicPr>
            <a:picLocks noChangeAspect="1"/>
          </p:cNvPicPr>
          <p:nvPr/>
        </p:nvPicPr>
        <p:blipFill>
          <a:blip r:embed="rId5"/>
          <a:stretch>
            <a:fillRect/>
          </a:stretch>
        </p:blipFill>
        <p:spPr>
          <a:xfrm>
            <a:off x="11117414" y="6271385"/>
            <a:ext cx="1074587" cy="586615"/>
          </a:xfrm>
          <a:prstGeom prst="rect">
            <a:avLst/>
          </a:prstGeom>
        </p:spPr>
      </p:pic>
      <p:sp>
        <p:nvSpPr>
          <p:cNvPr id="18" name="TextBox 17">
            <a:extLst>
              <a:ext uri="{FF2B5EF4-FFF2-40B4-BE49-F238E27FC236}">
                <a16:creationId xmlns:a16="http://schemas.microsoft.com/office/drawing/2014/main" id="{78647379-F290-46DA-8BB7-97EA0B604883}"/>
              </a:ext>
            </a:extLst>
          </p:cNvPr>
          <p:cNvSpPr txBox="1"/>
          <p:nvPr/>
        </p:nvSpPr>
        <p:spPr>
          <a:xfrm>
            <a:off x="6275561" y="5473253"/>
            <a:ext cx="1472697" cy="923330"/>
          </a:xfrm>
          <a:prstGeom prst="rect">
            <a:avLst/>
          </a:prstGeom>
          <a:solidFill>
            <a:srgbClr val="133E53"/>
          </a:solidFill>
        </p:spPr>
        <p:txBody>
          <a:bodyPr wrap="square" rtlCol="0">
            <a:spAutoFit/>
          </a:bodyPr>
          <a:lstStyle/>
          <a:p>
            <a:r>
              <a:rPr lang="tr-TR" dirty="0">
                <a:solidFill>
                  <a:schemeClr val="bg1"/>
                </a:solidFill>
              </a:rPr>
              <a:t>Her ürünün 1 tedarikçisi var.</a:t>
            </a:r>
            <a:endParaRPr lang="en-GB" dirty="0">
              <a:solidFill>
                <a:schemeClr val="bg1"/>
              </a:solidFill>
            </a:endParaRPr>
          </a:p>
        </p:txBody>
      </p:sp>
      <p:pic>
        <p:nvPicPr>
          <p:cNvPr id="5" name="Picture 4">
            <a:extLst>
              <a:ext uri="{FF2B5EF4-FFF2-40B4-BE49-F238E27FC236}">
                <a16:creationId xmlns:a16="http://schemas.microsoft.com/office/drawing/2014/main" id="{981CF277-3E8D-5F1E-B8C0-069D365342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5091" y="1571103"/>
            <a:ext cx="8081818" cy="5286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205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par>
                                <p:cTn id="30" presetID="10" presetClass="exit" presetSubtype="0" fill="hold" nodeType="withEffect">
                                  <p:stCondLst>
                                    <p:cond delay="0"/>
                                  </p:stCondLst>
                                  <p:childTnLst>
                                    <p:animEffect transition="out" filter="fade">
                                      <p:cBhvr>
                                        <p:cTn id="31" dur="500"/>
                                        <p:tgtEl>
                                          <p:spTgt spid="4"/>
                                        </p:tgtEl>
                                      </p:cBhvr>
                                    </p:animEffect>
                                    <p:set>
                                      <p:cBhvr>
                                        <p:cTn id="32" dur="1" fill="hold">
                                          <p:stCondLst>
                                            <p:cond delay="499"/>
                                          </p:stCondLst>
                                        </p:cTn>
                                        <p:tgtEl>
                                          <p:spTgt spid="4"/>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500"/>
                                        <p:tgtEl>
                                          <p:spTgt spid="9"/>
                                        </p:tgtEl>
                                      </p:cBhvr>
                                    </p:animEffect>
                                    <p:set>
                                      <p:cBhvr>
                                        <p:cTn id="35" dur="1" fill="hold">
                                          <p:stCondLst>
                                            <p:cond delay="499"/>
                                          </p:stCondLst>
                                        </p:cTn>
                                        <p:tgtEl>
                                          <p:spTgt spid="9"/>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500"/>
                                        <p:tgtEl>
                                          <p:spTgt spid="13"/>
                                        </p:tgtEl>
                                      </p:cBhvr>
                                    </p:animEffect>
                                    <p:set>
                                      <p:cBhvr>
                                        <p:cTn id="38" dur="1" fill="hold">
                                          <p:stCondLst>
                                            <p:cond delay="499"/>
                                          </p:stCondLst>
                                        </p:cTn>
                                        <p:tgtEl>
                                          <p:spTgt spid="13"/>
                                        </p:tgtEl>
                                        <p:attrNameLst>
                                          <p:attrName>style.visibility</p:attrName>
                                        </p:attrNameLst>
                                      </p:cBhvr>
                                      <p:to>
                                        <p:strVal val="hidden"/>
                                      </p:to>
                                    </p:set>
                                  </p:childTnLst>
                                </p:cTn>
                              </p:par>
                              <p:par>
                                <p:cTn id="39" presetID="10" presetClass="exit" presetSubtype="0" fill="hold" grpId="1" nodeType="withEffect">
                                  <p:stCondLst>
                                    <p:cond delay="0"/>
                                  </p:stCondLst>
                                  <p:childTnLst>
                                    <p:animEffect transition="out" filter="fade">
                                      <p:cBhvr>
                                        <p:cTn id="40" dur="500"/>
                                        <p:tgtEl>
                                          <p:spTgt spid="14"/>
                                        </p:tgtEl>
                                      </p:cBhvr>
                                    </p:animEffect>
                                    <p:set>
                                      <p:cBhvr>
                                        <p:cTn id="41" dur="1" fill="hold">
                                          <p:stCondLst>
                                            <p:cond delay="499"/>
                                          </p:stCondLst>
                                        </p:cTn>
                                        <p:tgtEl>
                                          <p:spTgt spid="14"/>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500"/>
                                        <p:tgtEl>
                                          <p:spTgt spid="16"/>
                                        </p:tgtEl>
                                      </p:cBhvr>
                                    </p:animEffect>
                                    <p:set>
                                      <p:cBhvr>
                                        <p:cTn id="44" dur="1" fill="hold">
                                          <p:stCondLst>
                                            <p:cond delay="499"/>
                                          </p:stCondLst>
                                        </p:cTn>
                                        <p:tgtEl>
                                          <p:spTgt spid="16"/>
                                        </p:tgtEl>
                                        <p:attrNameLst>
                                          <p:attrName>style.visibility</p:attrName>
                                        </p:attrNameLst>
                                      </p:cBhvr>
                                      <p:to>
                                        <p:strVal val="hidden"/>
                                      </p:to>
                                    </p:set>
                                  </p:childTnLst>
                                </p:cTn>
                              </p:par>
                              <p:par>
                                <p:cTn id="45" presetID="10" presetClass="exit" presetSubtype="0" fill="hold" grpId="1" nodeType="withEffect">
                                  <p:stCondLst>
                                    <p:cond delay="0"/>
                                  </p:stCondLst>
                                  <p:childTnLst>
                                    <p:animEffect transition="out" filter="fade">
                                      <p:cBhvr>
                                        <p:cTn id="46" dur="500"/>
                                        <p:tgtEl>
                                          <p:spTgt spid="18"/>
                                        </p:tgtEl>
                                      </p:cBhvr>
                                    </p:animEffect>
                                    <p:set>
                                      <p:cBhvr>
                                        <p:cTn id="47"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6" grpId="0" animBg="1"/>
      <p:bldP spid="16" grpId="1" animBg="1"/>
      <p:bldP spid="18" grpId="0" animBg="1"/>
      <p:bldP spid="18"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1B8099-5263-9B87-5924-44EE99622E13}"/>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4350A9B-8D5E-3AC7-B91E-29BFE9759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033" name="Group 1032">
            <a:extLst>
              <a:ext uri="{FF2B5EF4-FFF2-40B4-BE49-F238E27FC236}">
                <a16:creationId xmlns:a16="http://schemas.microsoft.com/office/drawing/2014/main" id="{3557ECED-BE7F-E1D7-0BFE-034A2437FE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034" name="Rectangle 1033">
              <a:extLst>
                <a:ext uri="{FF2B5EF4-FFF2-40B4-BE49-F238E27FC236}">
                  <a16:creationId xmlns:a16="http://schemas.microsoft.com/office/drawing/2014/main" id="{EC9EE02D-92C2-2CFA-E526-18F7C32C5A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8BDDE2D5-D74E-9F91-9F6C-8B1E3DD710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6" name="Rectangle 1035">
              <a:extLst>
                <a:ext uri="{FF2B5EF4-FFF2-40B4-BE49-F238E27FC236}">
                  <a16:creationId xmlns:a16="http://schemas.microsoft.com/office/drawing/2014/main" id="{B0C5CFDF-C6B4-6581-A3D2-E4FEF9275D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2" name="Title 1">
            <a:extLst>
              <a:ext uri="{FF2B5EF4-FFF2-40B4-BE49-F238E27FC236}">
                <a16:creationId xmlns:a16="http://schemas.microsoft.com/office/drawing/2014/main" id="{D15DA40F-3C50-7D86-E6A8-FFAA24FBA8CB}"/>
              </a:ext>
            </a:extLst>
          </p:cNvPr>
          <p:cNvSpPr txBox="1">
            <a:spLocks/>
          </p:cNvSpPr>
          <p:nvPr/>
        </p:nvSpPr>
        <p:spPr>
          <a:xfrm>
            <a:off x="0" y="-1"/>
            <a:ext cx="12191997" cy="15754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tr-TR" dirty="0" err="1">
                <a:solidFill>
                  <a:schemeClr val="bg1"/>
                </a:solidFill>
                <a:latin typeface="Times New Roman" panose="02020603050405020304" pitchFamily="18" charset="0"/>
                <a:cs typeface="Times New Roman" panose="02020603050405020304" pitchFamily="18" charset="0"/>
              </a:rPr>
              <a:t>Employees</a:t>
            </a:r>
            <a:endParaRPr lang="en-GB" sz="5400" dirty="0">
              <a:solidFill>
                <a:schemeClr val="bg1"/>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67651D4-8AEE-F3D3-AB06-EE862348BD61}"/>
              </a:ext>
            </a:extLst>
          </p:cNvPr>
          <p:cNvPicPr>
            <a:picLocks noChangeAspect="1"/>
          </p:cNvPicPr>
          <p:nvPr/>
        </p:nvPicPr>
        <p:blipFill>
          <a:blip r:embed="rId3"/>
          <a:stretch>
            <a:fillRect/>
          </a:stretch>
        </p:blipFill>
        <p:spPr>
          <a:xfrm>
            <a:off x="11117414" y="6271385"/>
            <a:ext cx="1074587" cy="586615"/>
          </a:xfrm>
          <a:prstGeom prst="rect">
            <a:avLst/>
          </a:prstGeom>
        </p:spPr>
      </p:pic>
      <p:sp>
        <p:nvSpPr>
          <p:cNvPr id="4" name="TextBox 3">
            <a:extLst>
              <a:ext uri="{FF2B5EF4-FFF2-40B4-BE49-F238E27FC236}">
                <a16:creationId xmlns:a16="http://schemas.microsoft.com/office/drawing/2014/main" id="{E8AC1E35-03E9-8DF1-71CF-6E49F6523E58}"/>
              </a:ext>
            </a:extLst>
          </p:cNvPr>
          <p:cNvSpPr txBox="1"/>
          <p:nvPr/>
        </p:nvSpPr>
        <p:spPr>
          <a:xfrm>
            <a:off x="10660562" y="3317777"/>
            <a:ext cx="1472697" cy="1200329"/>
          </a:xfrm>
          <a:prstGeom prst="rect">
            <a:avLst/>
          </a:prstGeom>
          <a:solidFill>
            <a:srgbClr val="133E53"/>
          </a:solidFill>
        </p:spPr>
        <p:txBody>
          <a:bodyPr wrap="square" rtlCol="0">
            <a:spAutoFit/>
          </a:bodyPr>
          <a:lstStyle/>
          <a:p>
            <a:r>
              <a:rPr lang="tr-TR" dirty="0">
                <a:solidFill>
                  <a:schemeClr val="bg1"/>
                </a:solidFill>
              </a:rPr>
              <a:t>1997 - €460K</a:t>
            </a:r>
          </a:p>
          <a:p>
            <a:r>
              <a:rPr lang="tr-TR" dirty="0">
                <a:solidFill>
                  <a:schemeClr val="bg1"/>
                </a:solidFill>
              </a:rPr>
              <a:t>1998 - €761K</a:t>
            </a:r>
          </a:p>
          <a:p>
            <a:r>
              <a:rPr lang="tr-TR" dirty="0">
                <a:solidFill>
                  <a:schemeClr val="bg1"/>
                </a:solidFill>
              </a:rPr>
              <a:t>%65</a:t>
            </a:r>
            <a:endParaRPr lang="en-GB" dirty="0">
              <a:solidFill>
                <a:schemeClr val="bg1"/>
              </a:solidFill>
            </a:endParaRPr>
          </a:p>
          <a:p>
            <a:endParaRPr lang="en-GB" dirty="0">
              <a:solidFill>
                <a:schemeClr val="bg1"/>
              </a:solidFill>
            </a:endParaRPr>
          </a:p>
        </p:txBody>
      </p:sp>
      <p:pic>
        <p:nvPicPr>
          <p:cNvPr id="11" name="Picture 10">
            <a:extLst>
              <a:ext uri="{FF2B5EF4-FFF2-40B4-BE49-F238E27FC236}">
                <a16:creationId xmlns:a16="http://schemas.microsoft.com/office/drawing/2014/main" id="{4860D978-F77D-F4EA-F3DD-B80CE1956545}"/>
              </a:ext>
            </a:extLst>
          </p:cNvPr>
          <p:cNvPicPr>
            <a:picLocks noChangeAspect="1"/>
          </p:cNvPicPr>
          <p:nvPr/>
        </p:nvPicPr>
        <p:blipFill>
          <a:blip r:embed="rId4"/>
          <a:stretch>
            <a:fillRect/>
          </a:stretch>
        </p:blipFill>
        <p:spPr>
          <a:xfrm>
            <a:off x="270163" y="1585978"/>
            <a:ext cx="4990707" cy="4340006"/>
          </a:xfrm>
          <a:prstGeom prst="rect">
            <a:avLst/>
          </a:prstGeom>
        </p:spPr>
      </p:pic>
      <p:sp>
        <p:nvSpPr>
          <p:cNvPr id="19" name="Rectangle 18">
            <a:extLst>
              <a:ext uri="{FF2B5EF4-FFF2-40B4-BE49-F238E27FC236}">
                <a16:creationId xmlns:a16="http://schemas.microsoft.com/office/drawing/2014/main" id="{29BED46E-CA3D-7BCF-B5B0-4D15A0D39BE8}"/>
              </a:ext>
            </a:extLst>
          </p:cNvPr>
          <p:cNvSpPr/>
          <p:nvPr/>
        </p:nvSpPr>
        <p:spPr>
          <a:xfrm>
            <a:off x="2209674" y="2014177"/>
            <a:ext cx="2470639" cy="35608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a:extLst>
              <a:ext uri="{FF2B5EF4-FFF2-40B4-BE49-F238E27FC236}">
                <a16:creationId xmlns:a16="http://schemas.microsoft.com/office/drawing/2014/main" id="{7B937A9B-C85F-2C68-3F4D-91613E0E4B43}"/>
              </a:ext>
            </a:extLst>
          </p:cNvPr>
          <p:cNvPicPr>
            <a:picLocks noChangeAspect="1"/>
          </p:cNvPicPr>
          <p:nvPr/>
        </p:nvPicPr>
        <p:blipFill>
          <a:blip r:embed="rId5"/>
          <a:stretch>
            <a:fillRect/>
          </a:stretch>
        </p:blipFill>
        <p:spPr>
          <a:xfrm>
            <a:off x="5260873" y="1585978"/>
            <a:ext cx="6931124" cy="4203245"/>
          </a:xfrm>
          <a:prstGeom prst="rect">
            <a:avLst/>
          </a:prstGeom>
        </p:spPr>
      </p:pic>
      <p:sp>
        <p:nvSpPr>
          <p:cNvPr id="20" name="Rectangle 19">
            <a:extLst>
              <a:ext uri="{FF2B5EF4-FFF2-40B4-BE49-F238E27FC236}">
                <a16:creationId xmlns:a16="http://schemas.microsoft.com/office/drawing/2014/main" id="{49FA669A-2D62-7675-4EC9-CDED96C266F1}"/>
              </a:ext>
            </a:extLst>
          </p:cNvPr>
          <p:cNvSpPr/>
          <p:nvPr/>
        </p:nvSpPr>
        <p:spPr>
          <a:xfrm>
            <a:off x="2959100" y="5575062"/>
            <a:ext cx="550153" cy="2141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5ABEEED-F6C6-CE79-9988-653E8F6C2E7B}"/>
              </a:ext>
            </a:extLst>
          </p:cNvPr>
          <p:cNvSpPr txBox="1"/>
          <p:nvPr/>
        </p:nvSpPr>
        <p:spPr>
          <a:xfrm>
            <a:off x="10660562" y="4610090"/>
            <a:ext cx="1472697" cy="1477328"/>
          </a:xfrm>
          <a:prstGeom prst="rect">
            <a:avLst/>
          </a:prstGeom>
          <a:solidFill>
            <a:srgbClr val="133E53"/>
          </a:solidFill>
        </p:spPr>
        <p:txBody>
          <a:bodyPr wrap="square" rtlCol="0">
            <a:spAutoFit/>
          </a:bodyPr>
          <a:lstStyle/>
          <a:p>
            <a:r>
              <a:rPr lang="tr-TR" dirty="0">
                <a:solidFill>
                  <a:schemeClr val="bg1"/>
                </a:solidFill>
              </a:rPr>
              <a:t>1999 Senaryosu</a:t>
            </a:r>
          </a:p>
          <a:p>
            <a:r>
              <a:rPr lang="tr-TR" dirty="0">
                <a:solidFill>
                  <a:schemeClr val="bg1"/>
                </a:solidFill>
              </a:rPr>
              <a:t>€1.37M</a:t>
            </a:r>
          </a:p>
          <a:p>
            <a:r>
              <a:rPr lang="tr-TR" dirty="0">
                <a:solidFill>
                  <a:schemeClr val="bg1"/>
                </a:solidFill>
              </a:rPr>
              <a:t>%80</a:t>
            </a:r>
            <a:endParaRPr lang="en-GB" dirty="0">
              <a:solidFill>
                <a:schemeClr val="bg1"/>
              </a:solidFill>
            </a:endParaRPr>
          </a:p>
          <a:p>
            <a:endParaRPr lang="en-GB" dirty="0">
              <a:solidFill>
                <a:schemeClr val="bg1"/>
              </a:solidFill>
            </a:endParaRPr>
          </a:p>
        </p:txBody>
      </p:sp>
      <p:pic>
        <p:nvPicPr>
          <p:cNvPr id="25" name="Picture 24">
            <a:extLst>
              <a:ext uri="{FF2B5EF4-FFF2-40B4-BE49-F238E27FC236}">
                <a16:creationId xmlns:a16="http://schemas.microsoft.com/office/drawing/2014/main" id="{4C93C266-CA17-F572-ED71-1B21844CC373}"/>
              </a:ext>
            </a:extLst>
          </p:cNvPr>
          <p:cNvPicPr>
            <a:picLocks noChangeAspect="1"/>
          </p:cNvPicPr>
          <p:nvPr/>
        </p:nvPicPr>
        <p:blipFill>
          <a:blip r:embed="rId6"/>
          <a:stretch>
            <a:fillRect/>
          </a:stretch>
        </p:blipFill>
        <p:spPr>
          <a:xfrm>
            <a:off x="724236" y="1612636"/>
            <a:ext cx="9979262" cy="5245364"/>
          </a:xfrm>
          <a:prstGeom prst="rect">
            <a:avLst/>
          </a:prstGeom>
        </p:spPr>
      </p:pic>
    </p:spTree>
    <p:extLst>
      <p:ext uri="{BB962C8B-B14F-4D97-AF65-F5344CB8AC3E}">
        <p14:creationId xmlns:p14="http://schemas.microsoft.com/office/powerpoint/2010/main" val="203154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20"/>
                                        </p:tgtEl>
                                      </p:cBhvr>
                                    </p:animEffect>
                                    <p:set>
                                      <p:cBhvr>
                                        <p:cTn id="15" dur="1" fill="hold">
                                          <p:stCondLst>
                                            <p:cond delay="499"/>
                                          </p:stCondLst>
                                        </p:cTn>
                                        <p:tgtEl>
                                          <p:spTgt spid="2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par>
                                <p:cTn id="26" presetID="10" presetClass="exit" presetSubtype="0" fill="hold" nodeType="withEffect">
                                  <p:stCondLst>
                                    <p:cond delay="0"/>
                                  </p:stCondLst>
                                  <p:childTnLst>
                                    <p:animEffect transition="out" filter="fade">
                                      <p:cBhvr>
                                        <p:cTn id="27" dur="500"/>
                                        <p:tgtEl>
                                          <p:spTgt spid="11"/>
                                        </p:tgtEl>
                                      </p:cBhvr>
                                    </p:animEffect>
                                    <p:set>
                                      <p:cBhvr>
                                        <p:cTn id="28" dur="1" fill="hold">
                                          <p:stCondLst>
                                            <p:cond delay="499"/>
                                          </p:stCondLst>
                                        </p:cTn>
                                        <p:tgtEl>
                                          <p:spTgt spid="11"/>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16"/>
                                        </p:tgtEl>
                                      </p:cBhvr>
                                    </p:animEffect>
                                    <p:set>
                                      <p:cBhvr>
                                        <p:cTn id="31" dur="1" fill="hold">
                                          <p:stCondLst>
                                            <p:cond delay="499"/>
                                          </p:stCondLst>
                                        </p:cTn>
                                        <p:tgtEl>
                                          <p:spTgt spid="16"/>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9" grpId="0" animBg="1"/>
      <p:bldP spid="20"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B471F9-3264-865B-FB1E-8C2253652659}"/>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3744EAD-6164-2FB2-C268-2BA4589CD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033" name="Group 1032">
            <a:extLst>
              <a:ext uri="{FF2B5EF4-FFF2-40B4-BE49-F238E27FC236}">
                <a16:creationId xmlns:a16="http://schemas.microsoft.com/office/drawing/2014/main" id="{F7B18607-4A38-E8DD-971C-0985D04DE1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034" name="Rectangle 1033">
              <a:extLst>
                <a:ext uri="{FF2B5EF4-FFF2-40B4-BE49-F238E27FC236}">
                  <a16:creationId xmlns:a16="http://schemas.microsoft.com/office/drawing/2014/main" id="{2E0F8528-E139-60DD-49F5-3481011B3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4DDBDA5F-3D39-6FF7-3873-8FDE4C38BA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6" name="Rectangle 1035">
              <a:extLst>
                <a:ext uri="{FF2B5EF4-FFF2-40B4-BE49-F238E27FC236}">
                  <a16:creationId xmlns:a16="http://schemas.microsoft.com/office/drawing/2014/main" id="{BEDD4A99-3111-9376-08C7-D7031B222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2" name="Title 1">
            <a:extLst>
              <a:ext uri="{FF2B5EF4-FFF2-40B4-BE49-F238E27FC236}">
                <a16:creationId xmlns:a16="http://schemas.microsoft.com/office/drawing/2014/main" id="{26F1F217-7174-9A19-4784-FE0E93E173F1}"/>
              </a:ext>
            </a:extLst>
          </p:cNvPr>
          <p:cNvSpPr txBox="1">
            <a:spLocks/>
          </p:cNvSpPr>
          <p:nvPr/>
        </p:nvSpPr>
        <p:spPr>
          <a:xfrm>
            <a:off x="0" y="-1"/>
            <a:ext cx="12191997" cy="15754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tr-TR" b="0" i="0" u="none" strike="noStrike" kern="1200" cap="none" spc="0" normalizeH="0" baseline="0" noProof="0" dirty="0" err="1">
                <a:ln>
                  <a:noFill/>
                </a:ln>
                <a:solidFill>
                  <a:prstClr val="white"/>
                </a:solidFill>
                <a:effectLst/>
                <a:uLnTx/>
                <a:uFillTx/>
                <a:latin typeface="Times New Roman" panose="02020603050405020304" pitchFamily="18" charset="0"/>
                <a:cs typeface="Times New Roman" panose="02020603050405020304" pitchFamily="18" charset="0"/>
              </a:rPr>
              <a:t>Customers</a:t>
            </a:r>
            <a:endParaRPr kumimoji="0" lang="en-GB" b="0" i="0" u="none" strike="noStrike" kern="1200" cap="none" spc="0" normalizeH="0" baseline="0" noProof="0" dirty="0">
              <a:ln>
                <a:noFill/>
              </a:ln>
              <a:solidFill>
                <a:prstClr val="white"/>
              </a:solidFill>
              <a:effectLst/>
              <a:uLnTx/>
              <a:uFillTx/>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483806A-6998-11DF-B6BC-A61FF8E45796}"/>
              </a:ext>
            </a:extLst>
          </p:cNvPr>
          <p:cNvPicPr>
            <a:picLocks noChangeAspect="1"/>
          </p:cNvPicPr>
          <p:nvPr/>
        </p:nvPicPr>
        <p:blipFill>
          <a:blip r:embed="rId3"/>
          <a:stretch>
            <a:fillRect/>
          </a:stretch>
        </p:blipFill>
        <p:spPr>
          <a:xfrm>
            <a:off x="11117414" y="6271385"/>
            <a:ext cx="1074587" cy="586615"/>
          </a:xfrm>
          <a:prstGeom prst="rect">
            <a:avLst/>
          </a:prstGeom>
        </p:spPr>
      </p:pic>
      <p:pic>
        <p:nvPicPr>
          <p:cNvPr id="16" name="Picture 15">
            <a:extLst>
              <a:ext uri="{FF2B5EF4-FFF2-40B4-BE49-F238E27FC236}">
                <a16:creationId xmlns:a16="http://schemas.microsoft.com/office/drawing/2014/main" id="{A498FBDC-33B0-1B85-485D-C473107C00E8}"/>
              </a:ext>
            </a:extLst>
          </p:cNvPr>
          <p:cNvPicPr>
            <a:picLocks noChangeAspect="1"/>
          </p:cNvPicPr>
          <p:nvPr/>
        </p:nvPicPr>
        <p:blipFill>
          <a:blip r:embed="rId4"/>
          <a:stretch>
            <a:fillRect/>
          </a:stretch>
        </p:blipFill>
        <p:spPr>
          <a:xfrm>
            <a:off x="-2" y="1640797"/>
            <a:ext cx="5500802" cy="3961097"/>
          </a:xfrm>
          <a:prstGeom prst="rect">
            <a:avLst/>
          </a:prstGeom>
        </p:spPr>
      </p:pic>
      <p:sp>
        <p:nvSpPr>
          <p:cNvPr id="2" name="TextBox 1">
            <a:extLst>
              <a:ext uri="{FF2B5EF4-FFF2-40B4-BE49-F238E27FC236}">
                <a16:creationId xmlns:a16="http://schemas.microsoft.com/office/drawing/2014/main" id="{13690C1F-9701-F658-8018-DB31A91F474F}"/>
              </a:ext>
            </a:extLst>
          </p:cNvPr>
          <p:cNvSpPr txBox="1"/>
          <p:nvPr/>
        </p:nvSpPr>
        <p:spPr>
          <a:xfrm>
            <a:off x="95205" y="5514775"/>
            <a:ext cx="1472697" cy="923330"/>
          </a:xfrm>
          <a:prstGeom prst="rect">
            <a:avLst/>
          </a:prstGeom>
          <a:solidFill>
            <a:srgbClr val="133E53"/>
          </a:solidFill>
        </p:spPr>
        <p:txBody>
          <a:bodyPr wrap="square" rtlCol="0">
            <a:spAutoFit/>
          </a:bodyPr>
          <a:lstStyle/>
          <a:p>
            <a:r>
              <a:rPr lang="tr-TR" dirty="0">
                <a:solidFill>
                  <a:schemeClr val="bg1"/>
                </a:solidFill>
              </a:rPr>
              <a:t>Toplam Gelir €1.27M </a:t>
            </a:r>
          </a:p>
          <a:p>
            <a:endParaRPr lang="en-GB" dirty="0">
              <a:solidFill>
                <a:schemeClr val="bg1"/>
              </a:solidFill>
            </a:endParaRPr>
          </a:p>
        </p:txBody>
      </p:sp>
      <p:sp>
        <p:nvSpPr>
          <p:cNvPr id="4" name="TextBox 3">
            <a:extLst>
              <a:ext uri="{FF2B5EF4-FFF2-40B4-BE49-F238E27FC236}">
                <a16:creationId xmlns:a16="http://schemas.microsoft.com/office/drawing/2014/main" id="{EDB6FA6A-18AC-F21F-38C6-AA2A7D335A5C}"/>
              </a:ext>
            </a:extLst>
          </p:cNvPr>
          <p:cNvSpPr txBox="1"/>
          <p:nvPr/>
        </p:nvSpPr>
        <p:spPr>
          <a:xfrm>
            <a:off x="95205" y="6474770"/>
            <a:ext cx="1472697" cy="369332"/>
          </a:xfrm>
          <a:prstGeom prst="rect">
            <a:avLst/>
          </a:prstGeom>
          <a:solidFill>
            <a:srgbClr val="133E53"/>
          </a:solidFill>
        </p:spPr>
        <p:txBody>
          <a:bodyPr wrap="square" rtlCol="0">
            <a:spAutoFit/>
          </a:bodyPr>
          <a:lstStyle/>
          <a:p>
            <a:r>
              <a:rPr lang="tr-TR" dirty="0">
                <a:solidFill>
                  <a:schemeClr val="bg1"/>
                </a:solidFill>
              </a:rPr>
              <a:t>Oran %33</a:t>
            </a:r>
            <a:endParaRPr lang="en-GB" dirty="0">
              <a:solidFill>
                <a:schemeClr val="bg1"/>
              </a:solidFill>
            </a:endParaRPr>
          </a:p>
        </p:txBody>
      </p:sp>
      <p:graphicFrame>
        <p:nvGraphicFramePr>
          <p:cNvPr id="30" name="Table 29">
            <a:extLst>
              <a:ext uri="{FF2B5EF4-FFF2-40B4-BE49-F238E27FC236}">
                <a16:creationId xmlns:a16="http://schemas.microsoft.com/office/drawing/2014/main" id="{33514903-E272-278D-736F-54D9431F40F7}"/>
              </a:ext>
            </a:extLst>
          </p:cNvPr>
          <p:cNvGraphicFramePr>
            <a:graphicFrameLocks noGrp="1"/>
          </p:cNvGraphicFramePr>
          <p:nvPr>
            <p:extLst>
              <p:ext uri="{D42A27DB-BD31-4B8C-83A1-F6EECF244321}">
                <p14:modId xmlns:p14="http://schemas.microsoft.com/office/powerpoint/2010/main" val="636342434"/>
              </p:ext>
            </p:extLst>
          </p:nvPr>
        </p:nvGraphicFramePr>
        <p:xfrm>
          <a:off x="10908573" y="4540284"/>
          <a:ext cx="1092200" cy="1200150"/>
        </p:xfrm>
        <a:graphic>
          <a:graphicData uri="http://schemas.openxmlformats.org/drawingml/2006/table">
            <a:tbl>
              <a:tblPr/>
              <a:tblGrid>
                <a:gridCol w="609600">
                  <a:extLst>
                    <a:ext uri="{9D8B030D-6E8A-4147-A177-3AD203B41FA5}">
                      <a16:colId xmlns:a16="http://schemas.microsoft.com/office/drawing/2014/main" val="1013566441"/>
                    </a:ext>
                  </a:extLst>
                </a:gridCol>
                <a:gridCol w="482600">
                  <a:extLst>
                    <a:ext uri="{9D8B030D-6E8A-4147-A177-3AD203B41FA5}">
                      <a16:colId xmlns:a16="http://schemas.microsoft.com/office/drawing/2014/main" val="3259114822"/>
                    </a:ext>
                  </a:extLst>
                </a:gridCol>
              </a:tblGrid>
              <a:tr h="200025">
                <a:tc>
                  <a:txBody>
                    <a:bodyPr/>
                    <a:lstStyle/>
                    <a:p>
                      <a:pPr algn="l" fontAlgn="b">
                        <a:buNone/>
                      </a:pPr>
                      <a:r>
                        <a:rPr lang="en-GB" sz="1200" b="0" i="0" u="none" strike="noStrike">
                          <a:solidFill>
                            <a:srgbClr val="FFFFFF"/>
                          </a:solidFill>
                          <a:effectLst/>
                          <a:latin typeface="Times New Roman" panose="02020603050405020304" pitchFamily="18" charset="0"/>
                        </a:rPr>
                        <a:t>Müşteri</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2335F"/>
                    </a:solidFill>
                  </a:tcPr>
                </a:tc>
                <a:tc>
                  <a:txBody>
                    <a:bodyPr/>
                    <a:lstStyle/>
                    <a:p>
                      <a:pPr algn="l" fontAlgn="b">
                        <a:buNone/>
                      </a:pPr>
                      <a:r>
                        <a:rPr lang="en-GB" sz="1200" b="0" i="0" u="none" strike="noStrike" dirty="0">
                          <a:solidFill>
                            <a:srgbClr val="FFFFFF"/>
                          </a:solidFill>
                          <a:effectLst/>
                          <a:latin typeface="Times New Roman" panose="02020603050405020304" pitchFamily="18" charset="0"/>
                        </a:rPr>
                        <a:t>Tenure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12335F"/>
                    </a:solidFill>
                  </a:tcPr>
                </a:tc>
                <a:extLst>
                  <a:ext uri="{0D108BD9-81ED-4DB2-BD59-A6C34878D82A}">
                    <a16:rowId xmlns:a16="http://schemas.microsoft.com/office/drawing/2014/main" val="1815010583"/>
                  </a:ext>
                </a:extLst>
              </a:tr>
              <a:tr h="200025">
                <a:tc>
                  <a:txBody>
                    <a:bodyPr/>
                    <a:lstStyle/>
                    <a:p>
                      <a:pPr algn="l" fontAlgn="b">
                        <a:buNone/>
                      </a:pPr>
                      <a:r>
                        <a:rPr lang="en-GB" sz="1200" b="0" i="0" u="none" strike="noStrike" dirty="0">
                          <a:solidFill>
                            <a:srgbClr val="000000"/>
                          </a:solidFill>
                          <a:effectLst/>
                          <a:latin typeface="Times New Roman" panose="02020603050405020304" pitchFamily="18" charset="0"/>
                        </a:rPr>
                        <a:t>ERNSH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GB" sz="1200" b="0" i="0" u="none" strike="noStrike" dirty="0">
                          <a:solidFill>
                            <a:srgbClr val="000000"/>
                          </a:solidFill>
                          <a:effectLst/>
                          <a:latin typeface="Times New Roman" panose="02020603050405020304" pitchFamily="18" charset="0"/>
                        </a:rPr>
                        <a:t>684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254875640"/>
                  </a:ext>
                </a:extLst>
              </a:tr>
              <a:tr h="200025">
                <a:tc>
                  <a:txBody>
                    <a:bodyPr/>
                    <a:lstStyle/>
                    <a:p>
                      <a:pPr algn="l" fontAlgn="b">
                        <a:buNone/>
                      </a:pPr>
                      <a:r>
                        <a:rPr lang="en-GB" sz="1200" b="0" i="0" u="none" strike="noStrike" dirty="0">
                          <a:solidFill>
                            <a:srgbClr val="000000"/>
                          </a:solidFill>
                          <a:effectLst/>
                          <a:latin typeface="Times New Roman" panose="02020603050405020304" pitchFamily="18" charset="0"/>
                        </a:rPr>
                        <a:t>RATTC</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GB" sz="1200" b="0" i="0" u="none" strike="noStrike" dirty="0">
                          <a:solidFill>
                            <a:srgbClr val="000000"/>
                          </a:solidFill>
                          <a:effectLst/>
                          <a:latin typeface="Times New Roman" panose="02020603050405020304" pitchFamily="18" charset="0"/>
                        </a:rPr>
                        <a:t>679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72271350"/>
                  </a:ext>
                </a:extLst>
              </a:tr>
              <a:tr h="200025">
                <a:tc>
                  <a:txBody>
                    <a:bodyPr/>
                    <a:lstStyle/>
                    <a:p>
                      <a:pPr algn="l" fontAlgn="b">
                        <a:buNone/>
                      </a:pPr>
                      <a:r>
                        <a:rPr lang="en-GB" sz="1200" b="0" i="0" u="none" strike="noStrike">
                          <a:solidFill>
                            <a:srgbClr val="000000"/>
                          </a:solidFill>
                          <a:effectLst/>
                          <a:latin typeface="Times New Roman" panose="02020603050405020304" pitchFamily="18" charset="0"/>
                        </a:rPr>
                        <a:t>QUICK</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GB" sz="1200" b="0" i="0" u="none" strike="noStrike" dirty="0">
                          <a:solidFill>
                            <a:srgbClr val="000000"/>
                          </a:solidFill>
                          <a:effectLst/>
                          <a:latin typeface="Times New Roman" panose="02020603050405020304" pitchFamily="18" charset="0"/>
                        </a:rPr>
                        <a:t>665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04668929"/>
                  </a:ext>
                </a:extLst>
              </a:tr>
              <a:tr h="200025">
                <a:tc>
                  <a:txBody>
                    <a:bodyPr/>
                    <a:lstStyle/>
                    <a:p>
                      <a:pPr algn="l" fontAlgn="b">
                        <a:buNone/>
                      </a:pPr>
                      <a:r>
                        <a:rPr lang="en-GB" sz="1200" b="0" i="0" u="none" strike="noStrike" dirty="0">
                          <a:solidFill>
                            <a:srgbClr val="000000"/>
                          </a:solidFill>
                          <a:effectLst/>
                          <a:latin typeface="Times New Roman" panose="02020603050405020304" pitchFamily="18" charset="0"/>
                        </a:rPr>
                        <a:t>HUNGO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GB" sz="1200" b="0" i="0" u="none" strike="noStrike" dirty="0">
                          <a:solidFill>
                            <a:srgbClr val="000000"/>
                          </a:solidFill>
                          <a:effectLst/>
                          <a:latin typeface="Times New Roman" panose="02020603050405020304" pitchFamily="18" charset="0"/>
                        </a:rPr>
                        <a:t>634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13987765"/>
                  </a:ext>
                </a:extLst>
              </a:tr>
              <a:tr h="200025">
                <a:tc>
                  <a:txBody>
                    <a:bodyPr/>
                    <a:lstStyle/>
                    <a:p>
                      <a:pPr algn="l" fontAlgn="b">
                        <a:buNone/>
                      </a:pPr>
                      <a:r>
                        <a:rPr lang="en-GB" sz="1200" b="0" i="0" u="none" strike="noStrike">
                          <a:solidFill>
                            <a:srgbClr val="000000"/>
                          </a:solidFill>
                          <a:effectLst/>
                          <a:latin typeface="Times New Roman" panose="02020603050405020304" pitchFamily="18" charset="0"/>
                        </a:rPr>
                        <a:t>SAVEA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GB" sz="1200" b="0" i="0" u="none" strike="noStrike" dirty="0">
                          <a:solidFill>
                            <a:srgbClr val="000000"/>
                          </a:solidFill>
                          <a:effectLst/>
                          <a:latin typeface="Times New Roman" panose="02020603050405020304" pitchFamily="18" charset="0"/>
                        </a:rPr>
                        <a:t>601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5990437"/>
                  </a:ext>
                </a:extLst>
              </a:tr>
            </a:tbl>
          </a:graphicData>
        </a:graphic>
      </p:graphicFrame>
      <p:sp>
        <p:nvSpPr>
          <p:cNvPr id="14" name="Rectangle 13">
            <a:extLst>
              <a:ext uri="{FF2B5EF4-FFF2-40B4-BE49-F238E27FC236}">
                <a16:creationId xmlns:a16="http://schemas.microsoft.com/office/drawing/2014/main" id="{F0663431-92FC-C53B-4D79-CC723930FC3B}"/>
              </a:ext>
            </a:extLst>
          </p:cNvPr>
          <p:cNvSpPr/>
          <p:nvPr/>
        </p:nvSpPr>
        <p:spPr>
          <a:xfrm>
            <a:off x="9679295" y="2938174"/>
            <a:ext cx="2321478" cy="13663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45C5DB35-DA27-7B27-4AB5-F1585B8DC531}"/>
              </a:ext>
            </a:extLst>
          </p:cNvPr>
          <p:cNvPicPr>
            <a:picLocks noChangeAspect="1"/>
          </p:cNvPicPr>
          <p:nvPr/>
        </p:nvPicPr>
        <p:blipFill>
          <a:blip r:embed="rId5"/>
          <a:stretch>
            <a:fillRect/>
          </a:stretch>
        </p:blipFill>
        <p:spPr>
          <a:xfrm>
            <a:off x="5063001" y="1702900"/>
            <a:ext cx="7129000" cy="4567498"/>
          </a:xfrm>
          <a:prstGeom prst="rect">
            <a:avLst/>
          </a:prstGeom>
        </p:spPr>
      </p:pic>
    </p:spTree>
    <p:extLst>
      <p:ext uri="{BB962C8B-B14F-4D97-AF65-F5344CB8AC3E}">
        <p14:creationId xmlns:p14="http://schemas.microsoft.com/office/powerpoint/2010/main" val="328616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1461B8-49B7-1022-596B-A4B2C35DBA0B}"/>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F4F92F0-267E-BC3C-DA8C-58D45C6ED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033" name="Group 1032">
            <a:extLst>
              <a:ext uri="{FF2B5EF4-FFF2-40B4-BE49-F238E27FC236}">
                <a16:creationId xmlns:a16="http://schemas.microsoft.com/office/drawing/2014/main" id="{F91BD282-24DA-E166-FCA3-987A8970BE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2" cy="1576446"/>
            <a:chOff x="0" y="0"/>
            <a:chExt cx="12192002" cy="1576446"/>
          </a:xfrm>
        </p:grpSpPr>
        <p:sp>
          <p:nvSpPr>
            <p:cNvPr id="1034" name="Rectangle 1033">
              <a:extLst>
                <a:ext uri="{FF2B5EF4-FFF2-40B4-BE49-F238E27FC236}">
                  <a16:creationId xmlns:a16="http://schemas.microsoft.com/office/drawing/2014/main" id="{881CB0E5-864E-4985-F358-706C7E784F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35" name="Rectangle 1034">
              <a:extLst>
                <a:ext uri="{FF2B5EF4-FFF2-40B4-BE49-F238E27FC236}">
                  <a16:creationId xmlns:a16="http://schemas.microsoft.com/office/drawing/2014/main" id="{DCEA0FF7-DE3E-DAAB-FAE8-918F27A7C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36" name="Rectangle 1035">
              <a:extLst>
                <a:ext uri="{FF2B5EF4-FFF2-40B4-BE49-F238E27FC236}">
                  <a16:creationId xmlns:a16="http://schemas.microsoft.com/office/drawing/2014/main" id="{B51C3BE6-80FF-AD41-F1C2-4327B415C9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2" name="Title 1">
            <a:extLst>
              <a:ext uri="{FF2B5EF4-FFF2-40B4-BE49-F238E27FC236}">
                <a16:creationId xmlns:a16="http://schemas.microsoft.com/office/drawing/2014/main" id="{4A13FB3C-0548-5C90-8117-FE9918664265}"/>
              </a:ext>
            </a:extLst>
          </p:cNvPr>
          <p:cNvSpPr txBox="1">
            <a:spLocks/>
          </p:cNvSpPr>
          <p:nvPr/>
        </p:nvSpPr>
        <p:spPr>
          <a:xfrm>
            <a:off x="0" y="-1"/>
            <a:ext cx="12191997" cy="15754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Aft>
                <a:spcPts val="600"/>
              </a:spcAft>
            </a:pPr>
            <a:r>
              <a:rPr kumimoji="0" lang="tr-TR" b="0" i="0" u="none" strike="noStrike" kern="1200" cap="none" spc="0" normalizeH="0" baseline="0" noProof="0" dirty="0" err="1">
                <a:ln>
                  <a:noFill/>
                </a:ln>
                <a:solidFill>
                  <a:schemeClr val="bg1"/>
                </a:solidFill>
                <a:effectLst/>
                <a:uLnTx/>
                <a:uFillTx/>
                <a:latin typeface="Times New Roman" panose="02020603050405020304" pitchFamily="18" charset="0"/>
                <a:cs typeface="Times New Roman" panose="02020603050405020304" pitchFamily="18" charset="0"/>
              </a:rPr>
              <a:t>Actions</a:t>
            </a:r>
            <a:endParaRPr kumimoji="0" lang="en-GB"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E1DB73-E6D3-7610-A151-71D07EFBEC3A}"/>
              </a:ext>
            </a:extLst>
          </p:cNvPr>
          <p:cNvSpPr>
            <a:spLocks noGrp="1"/>
          </p:cNvSpPr>
          <p:nvPr>
            <p:ph idx="1"/>
          </p:nvPr>
        </p:nvSpPr>
        <p:spPr>
          <a:xfrm>
            <a:off x="158630" y="1700936"/>
            <a:ext cx="10958781" cy="4638745"/>
          </a:xfrm>
        </p:spPr>
        <p:txBody>
          <a:bodyPr vert="horz" lIns="91440" tIns="45720" rIns="91440" bIns="45720" rtlCol="0">
            <a:normAutofit/>
          </a:bodyPr>
          <a:lstStyle/>
          <a:p>
            <a:r>
              <a:rPr lang="en-GB" sz="2400" dirty="0">
                <a:latin typeface="Times New Roman" panose="02020603050405020304" pitchFamily="18" charset="0"/>
                <a:cs typeface="Times New Roman" panose="02020603050405020304" pitchFamily="18" charset="0"/>
              </a:rPr>
              <a:t>A single-supplier structure exists for products that carry a significant share of revenue. This increases the likelihood of operational risks translating into revenue loss. Alternative suppliers operating in the same categories should be contacted, and secondary supply sources should be established for critical products.</a:t>
            </a:r>
          </a:p>
          <a:p>
            <a:r>
              <a:rPr lang="en-GB" sz="2400" dirty="0">
                <a:latin typeface="Times New Roman" panose="02020603050405020304" pitchFamily="18" charset="0"/>
                <a:cs typeface="Times New Roman" panose="02020603050405020304" pitchFamily="18" charset="0"/>
              </a:rPr>
              <a:t>The top 5 sales performers remained the same in 1997 and 1998, though their rankings shifted. To support the growth projected in the 1999 scenario, the sales approaches of the highest-performing employees should be standardised across the entire team.</a:t>
            </a:r>
          </a:p>
          <a:p>
            <a:r>
              <a:rPr lang="en-GB" sz="2400" dirty="0">
                <a:latin typeface="Times New Roman" panose="02020603050405020304" pitchFamily="18" charset="0"/>
                <a:cs typeface="Times New Roman" panose="02020603050405020304" pitchFamily="18" charset="0"/>
              </a:rPr>
              <a:t>The order patterns of our top 5 revenue-generating customers have been analysed by calculating their RFM scores and average basket sizes. To develop these patterns in the desired direction and increase revenue, differentiated campaign strategies should be applied based on the values of the metrics above.</a:t>
            </a:r>
          </a:p>
          <a:p>
            <a:pPr lvl="2">
              <a:lnSpc>
                <a:spcPct val="150000"/>
              </a:lnSpc>
            </a:pPr>
            <a:endParaRPr lang="en-US" sz="1900" dirty="0"/>
          </a:p>
          <a:p>
            <a:endParaRPr lang="en-US" sz="1900" dirty="0"/>
          </a:p>
          <a:p>
            <a:endParaRPr lang="en-US" sz="1900" dirty="0"/>
          </a:p>
        </p:txBody>
      </p:sp>
      <p:pic>
        <p:nvPicPr>
          <p:cNvPr id="2" name="Picture 1">
            <a:extLst>
              <a:ext uri="{FF2B5EF4-FFF2-40B4-BE49-F238E27FC236}">
                <a16:creationId xmlns:a16="http://schemas.microsoft.com/office/drawing/2014/main" id="{56B7351A-A2EB-91C3-44AD-F653C94D0823}"/>
              </a:ext>
            </a:extLst>
          </p:cNvPr>
          <p:cNvPicPr>
            <a:picLocks noChangeAspect="1"/>
          </p:cNvPicPr>
          <p:nvPr/>
        </p:nvPicPr>
        <p:blipFill>
          <a:blip r:embed="rId3"/>
          <a:stretch>
            <a:fillRect/>
          </a:stretch>
        </p:blipFill>
        <p:spPr>
          <a:xfrm>
            <a:off x="11117414" y="6271385"/>
            <a:ext cx="1074587" cy="586615"/>
          </a:xfrm>
          <a:prstGeom prst="rect">
            <a:avLst/>
          </a:prstGeom>
        </p:spPr>
      </p:pic>
    </p:spTree>
    <p:extLst>
      <p:ext uri="{BB962C8B-B14F-4D97-AF65-F5344CB8AC3E}">
        <p14:creationId xmlns:p14="http://schemas.microsoft.com/office/powerpoint/2010/main" val="334646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6344</TotalTime>
  <Words>391</Words>
  <Application>Microsoft Office PowerPoint</Application>
  <PresentationFormat>Widescreen</PresentationFormat>
  <Paragraphs>77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Times New Roman</vt:lpstr>
      <vt:lpstr>Office Theme</vt:lpstr>
      <vt:lpstr>M2M Analytics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Sarp Esenyel</dc:creator>
  <cp:lastModifiedBy>Sarp Esenyel</cp:lastModifiedBy>
  <cp:revision>62</cp:revision>
  <dcterms:created xsi:type="dcterms:W3CDTF">2025-12-09T18:44:49Z</dcterms:created>
  <dcterms:modified xsi:type="dcterms:W3CDTF">2026-04-15T21:44:31Z</dcterms:modified>
</cp:coreProperties>
</file>